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6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84"/>
    <p:restoredTop sz="93141"/>
  </p:normalViewPr>
  <p:slideViewPr>
    <p:cSldViewPr snapToGrid="0">
      <p:cViewPr>
        <p:scale>
          <a:sx n="110" d="100"/>
          <a:sy n="110" d="100"/>
        </p:scale>
        <p:origin x="160"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46C6AE-43E1-9648-B074-094EA5F38923}" type="datetimeFigureOut">
              <a:rPr lang="en-US" smtClean="0"/>
              <a:t>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370CD2-5C81-0141-8AEC-2A7E0970F300}" type="slidenum">
              <a:rPr lang="en-US" smtClean="0"/>
              <a:t>‹#›</a:t>
            </a:fld>
            <a:endParaRPr lang="en-US"/>
          </a:p>
        </p:txBody>
      </p:sp>
    </p:spTree>
    <p:extLst>
      <p:ext uri="{BB962C8B-B14F-4D97-AF65-F5344CB8AC3E}">
        <p14:creationId xmlns:p14="http://schemas.microsoft.com/office/powerpoint/2010/main" val="2218198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dirty="0"/>
              <a:t>Good afternoon. My project explores how the glucocorticoid and mineralocorticoid receptors interact with the genome in the rat hippocampus under different physiological conditions, and whether chromatin accessibility plays a role in shaping these interactions."</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1</a:t>
            </a:fld>
            <a:endParaRPr lang="en-US"/>
          </a:p>
        </p:txBody>
      </p:sp>
    </p:spTree>
    <p:extLst>
      <p:ext uri="{BB962C8B-B14F-4D97-AF65-F5344CB8AC3E}">
        <p14:creationId xmlns:p14="http://schemas.microsoft.com/office/powerpoint/2010/main" val="1821201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“Glucocorticoid hormones — or GCs — regulate stress and circadian rhythms by binding to two key transcription factors in the brain: the </a:t>
            </a:r>
            <a:r>
              <a:rPr lang="en-GB" b="1" dirty="0"/>
              <a:t>mineralocorticoid receptor (MR)</a:t>
            </a:r>
            <a:r>
              <a:rPr lang="en-GB" dirty="0"/>
              <a:t> and the </a:t>
            </a:r>
            <a:r>
              <a:rPr lang="en-GB" b="1" dirty="0"/>
              <a:t>glucocorticoid receptor (GR)</a:t>
            </a:r>
            <a:r>
              <a:rPr lang="en-GB" dirty="0"/>
              <a:t>.</a:t>
            </a:r>
            <a:br>
              <a:rPr lang="en-GB" dirty="0"/>
            </a:br>
            <a:r>
              <a:rPr lang="en-GB" dirty="0"/>
              <a:t>These receptors bind DNA and regulate gene expression in a condition-dependent way — with MR more active at low GC levels, and GR more responsive at higher levels like those seen during stress.</a:t>
            </a:r>
            <a:br>
              <a:rPr lang="en-GB" dirty="0"/>
            </a:br>
            <a:r>
              <a:rPr lang="en-GB" dirty="0"/>
              <a:t>In the hippocampus, MR and GR binding patterns vary across physiological states. Prior work by Mifsud et al. (2021) used </a:t>
            </a:r>
            <a:r>
              <a:rPr lang="en-GB" dirty="0" err="1"/>
              <a:t>ChIP-seq</a:t>
            </a:r>
            <a:r>
              <a:rPr lang="en-GB" dirty="0"/>
              <a:t> to analyse their binding in three conditions: morning baseline (BLAM), late-afternoon baseline (BLPM), and post-stress (FS).</a:t>
            </a:r>
            <a:br>
              <a:rPr lang="en-GB" dirty="0"/>
            </a:br>
            <a:r>
              <a:rPr lang="en-GB" dirty="0"/>
              <a:t>However, the </a:t>
            </a:r>
            <a:r>
              <a:rPr lang="en-GB" b="1" dirty="0"/>
              <a:t>direct comparison between BLPM and FS</a:t>
            </a:r>
            <a:r>
              <a:rPr lang="en-GB" dirty="0"/>
              <a:t> — that is, circadian peak versus acute stress — has not been done.</a:t>
            </a:r>
            <a:br>
              <a:rPr lang="en-GB" dirty="0"/>
            </a:br>
            <a:r>
              <a:rPr lang="en-GB" dirty="0"/>
              <a:t>This distinction is critical for understanding how stress-specific transcriptional responses differ from normal daily variation.</a:t>
            </a:r>
            <a:br>
              <a:rPr lang="en-GB" dirty="0"/>
            </a:br>
            <a:r>
              <a:rPr lang="en-GB" dirty="0"/>
              <a:t>In addition, chromatin state — particularly the presence of </a:t>
            </a:r>
            <a:r>
              <a:rPr lang="en-GB" b="1" dirty="0"/>
              <a:t>H3K9acS10p</a:t>
            </a:r>
            <a:r>
              <a:rPr lang="en-GB" dirty="0"/>
              <a:t>, a histone mark associated with open, active DNA — may help regulate MR and GR binding.</a:t>
            </a:r>
            <a:br>
              <a:rPr lang="en-GB" dirty="0"/>
            </a:br>
            <a:r>
              <a:rPr lang="en-GB" dirty="0"/>
              <a:t>Whether this epigenetic marker contributes to differences between FS and BLPM remains unexplored — and forms part of the focus of my project.</a:t>
            </a:r>
          </a:p>
          <a:p>
            <a:endParaRPr lang="en-GB" dirty="0"/>
          </a:p>
          <a:p>
            <a:endParaRPr lang="en-GB" dirty="0"/>
          </a:p>
          <a:p>
            <a:r>
              <a:rPr lang="en-GB" dirty="0"/>
              <a:t>“Glucocorticoid hormones — or GCs — are steroid hormones released in response to stress and as part of our daily circadian rhythm.</a:t>
            </a:r>
            <a:br>
              <a:rPr lang="en-GB" dirty="0"/>
            </a:br>
            <a:r>
              <a:rPr lang="en-GB" dirty="0"/>
              <a:t>In the brain, they work by binding to two key </a:t>
            </a:r>
            <a:r>
              <a:rPr lang="en-GB" b="1" dirty="0"/>
              <a:t>transcription factors</a:t>
            </a:r>
            <a:r>
              <a:rPr lang="en-GB" dirty="0"/>
              <a:t>: the </a:t>
            </a:r>
            <a:r>
              <a:rPr lang="en-GB" b="1" dirty="0"/>
              <a:t>mineralocorticoid receptor (MR)</a:t>
            </a:r>
            <a:r>
              <a:rPr lang="en-GB" dirty="0"/>
              <a:t> and the </a:t>
            </a:r>
            <a:r>
              <a:rPr lang="en-GB" b="1" dirty="0"/>
              <a:t>glucocorticoid receptor (GR)</a:t>
            </a:r>
            <a:r>
              <a:rPr lang="en-GB" dirty="0"/>
              <a:t>.</a:t>
            </a:r>
            <a:br>
              <a:rPr lang="en-GB" dirty="0"/>
            </a:br>
            <a:r>
              <a:rPr lang="en-GB" dirty="0"/>
              <a:t>These receptors are proteins that bind DNA and regulate gene expression.</a:t>
            </a:r>
            <a:br>
              <a:rPr lang="en-GB" dirty="0"/>
            </a:br>
            <a:r>
              <a:rPr lang="en-GB" dirty="0"/>
              <a:t>MR is active at low GC levels, while GR responds more strongly when GC levels rise — such as during stress.</a:t>
            </a:r>
            <a:br>
              <a:rPr lang="en-GB" dirty="0"/>
            </a:br>
            <a:r>
              <a:rPr lang="en-GB" dirty="0"/>
              <a:t>The hippocampus is highly sensitive to these hormones.</a:t>
            </a:r>
            <a:br>
              <a:rPr lang="en-GB" dirty="0"/>
            </a:br>
            <a:r>
              <a:rPr lang="en-GB" dirty="0"/>
              <a:t>While previous studies compared morning baseline to other conditions, my project focuses on the </a:t>
            </a:r>
            <a:r>
              <a:rPr lang="en-GB" b="1" dirty="0"/>
              <a:t>direct comparison between stress (FS) and circadian peak (BLPM)</a:t>
            </a:r>
            <a:r>
              <a:rPr lang="en-GB" dirty="0"/>
              <a:t>.</a:t>
            </a:r>
            <a:br>
              <a:rPr lang="en-GB" dirty="0"/>
            </a:br>
            <a:r>
              <a:rPr lang="en-GB" dirty="0"/>
              <a:t>I also investigated </a:t>
            </a:r>
            <a:r>
              <a:rPr lang="en-GB" b="1" dirty="0"/>
              <a:t>H3K9acS10p</a:t>
            </a:r>
            <a:r>
              <a:rPr lang="en-GB" dirty="0"/>
              <a:t>, a chromatin modification that marks open, transcriptionally active DNA, to see whether epigenetic factors regulate GR and MR binding.”</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2</a:t>
            </a:fld>
            <a:endParaRPr lang="en-US"/>
          </a:p>
        </p:txBody>
      </p:sp>
    </p:spTree>
    <p:extLst>
      <p:ext uri="{BB962C8B-B14F-4D97-AF65-F5344CB8AC3E}">
        <p14:creationId xmlns:p14="http://schemas.microsoft.com/office/powerpoint/2010/main" val="2655938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b="1" dirty="0"/>
              <a:t>Slide 3 – Hypothesis &amp; Objectives</a:t>
            </a:r>
            <a:endParaRPr lang="en-GB" dirty="0"/>
          </a:p>
          <a:p>
            <a:r>
              <a:rPr lang="en-GB" b="1" dirty="0"/>
              <a:t>Script:</a:t>
            </a:r>
            <a:r>
              <a:rPr lang="en-GB" dirty="0"/>
              <a:t> My hypothesis is that MR and GR interact with different gene regions depending on whether glucocorticoids are elevated through normal circadian rhythm or acute stress — and that chromatin accessibility, marked by H3K9acS10p, helps regulate this.</a:t>
            </a:r>
            <a:br>
              <a:rPr lang="en-GB" dirty="0"/>
            </a:br>
            <a:r>
              <a:rPr lang="en-GB" dirty="0"/>
              <a:t>To address this, my objectives were to identify where MR and GR bind under BLPM and FS, assess how H3K9acS10p overlaps with these sites, and interpret how this might influence gene regulation.</a:t>
            </a:r>
            <a:br>
              <a:rPr lang="en-GB" dirty="0"/>
            </a:br>
            <a:r>
              <a:rPr lang="en-GB" dirty="0"/>
              <a:t>Ultimately, I aimed to distinguish stress-specific transcriptional effects from normal circadian patterns and explore their potential biological relevance.”</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3</a:t>
            </a:fld>
            <a:endParaRPr lang="en-US"/>
          </a:p>
        </p:txBody>
      </p:sp>
    </p:spTree>
    <p:extLst>
      <p:ext uri="{BB962C8B-B14F-4D97-AF65-F5344CB8AC3E}">
        <p14:creationId xmlns:p14="http://schemas.microsoft.com/office/powerpoint/2010/main" val="4011222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reanalysed </a:t>
            </a:r>
            <a:r>
              <a:rPr lang="en-GB" dirty="0" err="1"/>
              <a:t>ChIP-seq</a:t>
            </a:r>
            <a:r>
              <a:rPr lang="en-GB" dirty="0"/>
              <a:t> datasets for MR, GR, and H3K9acS10p in the rat hippocampus under circadian and stress conditions.</a:t>
            </a:r>
            <a:br>
              <a:rPr lang="en-GB" dirty="0"/>
            </a:br>
            <a:r>
              <a:rPr lang="en-GB" dirty="0"/>
              <a:t>After quality control and peak calling with MACS2, I performed differential binding analysis using </a:t>
            </a:r>
            <a:r>
              <a:rPr lang="en-GB" dirty="0" err="1"/>
              <a:t>DiffBind</a:t>
            </a:r>
            <a:r>
              <a:rPr lang="en-GB" dirty="0"/>
              <a:t>.</a:t>
            </a:r>
            <a:br>
              <a:rPr lang="en-GB" dirty="0"/>
            </a:br>
            <a:r>
              <a:rPr lang="en-GB" dirty="0"/>
              <a:t>I annotated significant peaks with </a:t>
            </a:r>
            <a:r>
              <a:rPr lang="en-GB" dirty="0" err="1"/>
              <a:t>ChIPseeker</a:t>
            </a:r>
            <a:r>
              <a:rPr lang="en-GB" dirty="0"/>
              <a:t> and formatted gene lists using R.</a:t>
            </a:r>
            <a:br>
              <a:rPr lang="en-GB" dirty="0"/>
            </a:br>
            <a:r>
              <a:rPr lang="en-GB" dirty="0"/>
              <a:t>To visualise binding trends and assess replicates, I generated PCA plots, heatmaps, MA plots, and volcano plots.</a:t>
            </a:r>
            <a:br>
              <a:rPr lang="en-GB" dirty="0"/>
            </a:br>
            <a:r>
              <a:rPr lang="en-GB" dirty="0"/>
              <a:t>Next, I’ll generate Venn diagrams to compare overlap in target genes across MR, GR, and H3K9acS10p.</a:t>
            </a:r>
            <a:br>
              <a:rPr lang="en-GB" dirty="0"/>
            </a:br>
            <a:r>
              <a:rPr lang="en-GB" dirty="0"/>
              <a:t>Finally, I’ll carry out pathway enrichment using IPA or GO analysis to interpret the biological relevance of condition-specific targets.</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4</a:t>
            </a:fld>
            <a:endParaRPr lang="en-US"/>
          </a:p>
        </p:txBody>
      </p:sp>
    </p:spTree>
    <p:extLst>
      <p:ext uri="{BB962C8B-B14F-4D97-AF65-F5344CB8AC3E}">
        <p14:creationId xmlns:p14="http://schemas.microsoft.com/office/powerpoint/2010/main" val="1298379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a:t>
            </a:r>
            <a:r>
              <a:rPr lang="en-GB" b="1" dirty="0"/>
              <a:t>GR volcano plot</a:t>
            </a:r>
            <a:r>
              <a:rPr lang="en-GB" dirty="0"/>
              <a:t> shows a strong stress response, with </a:t>
            </a:r>
            <a:r>
              <a:rPr lang="en-GB" b="1" dirty="0"/>
              <a:t>186 significant peaks</a:t>
            </a:r>
            <a:r>
              <a:rPr lang="en-GB" dirty="0"/>
              <a:t>. Many are enriched in FS, including </a:t>
            </a:r>
            <a:r>
              <a:rPr lang="en-GB" b="1" dirty="0"/>
              <a:t>FKBP5</a:t>
            </a:r>
            <a:r>
              <a:rPr lang="en-GB" dirty="0"/>
              <a:t>, a well-known GR target — supporting both biological and technical validity.</a:t>
            </a:r>
          </a:p>
          <a:p>
            <a:r>
              <a:rPr lang="en-GB" b="1" dirty="0"/>
              <a:t>MR</a:t>
            </a:r>
            <a:r>
              <a:rPr lang="en-GB" dirty="0"/>
              <a:t> had just </a:t>
            </a:r>
            <a:r>
              <a:rPr lang="en-GB" b="1" dirty="0"/>
              <a:t>11 significant peaks</a:t>
            </a:r>
            <a:r>
              <a:rPr lang="en-GB" dirty="0"/>
              <a:t>, but the </a:t>
            </a:r>
            <a:r>
              <a:rPr lang="en-GB" b="1" dirty="0"/>
              <a:t>PCA plot</a:t>
            </a:r>
            <a:r>
              <a:rPr lang="en-GB" dirty="0"/>
              <a:t> still shows some condition-based separation, suggesting a subtler role.</a:t>
            </a:r>
          </a:p>
          <a:p>
            <a:r>
              <a:rPr lang="en-GB" dirty="0"/>
              <a:t>For </a:t>
            </a:r>
            <a:r>
              <a:rPr lang="en-GB" b="1" dirty="0"/>
              <a:t>H3K9acS10p</a:t>
            </a:r>
            <a:r>
              <a:rPr lang="en-GB" dirty="0"/>
              <a:t>, the </a:t>
            </a:r>
            <a:r>
              <a:rPr lang="en-GB" b="1" dirty="0"/>
              <a:t>heatmap</a:t>
            </a:r>
            <a:r>
              <a:rPr lang="en-GB" dirty="0"/>
              <a:t> shows limited clustering and only </a:t>
            </a:r>
            <a:r>
              <a:rPr lang="en-GB" b="1" dirty="0"/>
              <a:t>9 significant peaks</a:t>
            </a:r>
            <a:r>
              <a:rPr lang="en-GB" dirty="0"/>
              <a:t>, but FKBP5 was again present — which points to </a:t>
            </a:r>
            <a:r>
              <a:rPr lang="en-GB" b="1" dirty="0"/>
              <a:t>localised chromatin priming</a:t>
            </a:r>
            <a:r>
              <a:rPr lang="en-GB" dirty="0"/>
              <a:t> rather than widespread accessibility change.</a:t>
            </a:r>
          </a:p>
          <a:p>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5</a:t>
            </a:fld>
            <a:endParaRPr lang="en-US"/>
          </a:p>
        </p:txBody>
      </p:sp>
    </p:spTree>
    <p:extLst>
      <p:ext uri="{BB962C8B-B14F-4D97-AF65-F5344CB8AC3E}">
        <p14:creationId xmlns:p14="http://schemas.microsoft.com/office/powerpoint/2010/main" val="3814050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I used Emily’s approach to generate Venn diagrams comparing GR, MR, and S10 binding across conditions.</a:t>
            </a:r>
            <a:br>
              <a:rPr lang="en-GB" dirty="0"/>
            </a:br>
            <a:r>
              <a:rPr lang="en-GB" dirty="0"/>
              <a:t>At </a:t>
            </a:r>
            <a:r>
              <a:rPr lang="en-GB" b="1" dirty="0"/>
              <a:t>BLAM</a:t>
            </a:r>
            <a:r>
              <a:rPr lang="en-GB" dirty="0"/>
              <a:t>, almost no triple overlap is seen — confirming this low-GC state has accessible chromatin but little receptor activity.</a:t>
            </a:r>
            <a:br>
              <a:rPr lang="en-GB" dirty="0"/>
            </a:br>
            <a:r>
              <a:rPr lang="en-GB" dirty="0"/>
              <a:t>Under </a:t>
            </a:r>
            <a:r>
              <a:rPr lang="en-GB" b="1" dirty="0"/>
              <a:t>stress (FS30)</a:t>
            </a:r>
            <a:r>
              <a:rPr lang="en-GB" dirty="0"/>
              <a:t>, we see the </a:t>
            </a:r>
            <a:r>
              <a:rPr lang="en-GB" b="1" dirty="0"/>
              <a:t>highest triple overlap</a:t>
            </a:r>
            <a:r>
              <a:rPr lang="en-GB" dirty="0"/>
              <a:t>, including 103 shared peaks — consistent with coordinated GR and MR binding at accessible loci.</a:t>
            </a:r>
            <a:br>
              <a:rPr lang="en-GB" dirty="0"/>
            </a:br>
            <a:r>
              <a:rPr lang="en-GB" dirty="0"/>
              <a:t>At </a:t>
            </a:r>
            <a:r>
              <a:rPr lang="en-GB" b="1" dirty="0"/>
              <a:t>BLPM</a:t>
            </a:r>
            <a:r>
              <a:rPr lang="en-GB" dirty="0"/>
              <a:t>, overlap remains but GR begins to diverge, showing more unique peaks.</a:t>
            </a:r>
            <a:br>
              <a:rPr lang="en-GB" dirty="0"/>
            </a:br>
            <a:r>
              <a:rPr lang="en-GB" dirty="0"/>
              <a:t>These patterns reinforce that GR is most dynamic under stress, and S10 likely helps prime certain loci for receptor binding.”</a:t>
            </a:r>
          </a:p>
          <a:p>
            <a:endParaRPr lang="en-GB" dirty="0"/>
          </a:p>
          <a:p>
            <a:r>
              <a:rPr lang="en-GB" dirty="0"/>
              <a:t>At </a:t>
            </a:r>
            <a:r>
              <a:rPr lang="en-GB" b="1" dirty="0"/>
              <a:t>BLAM</a:t>
            </a:r>
            <a:r>
              <a:rPr lang="en-GB" dirty="0"/>
              <a:t>, overlap between GR, MR, and S10 is minimal — just one shared peak — consistent with a low-activity baseline.</a:t>
            </a:r>
            <a:br>
              <a:rPr lang="en-GB" dirty="0"/>
            </a:br>
            <a:r>
              <a:rPr lang="en-GB" dirty="0"/>
              <a:t>At </a:t>
            </a:r>
            <a:r>
              <a:rPr lang="en-GB" b="1" dirty="0"/>
              <a:t>FS</a:t>
            </a:r>
            <a:r>
              <a:rPr lang="en-GB" dirty="0"/>
              <a:t>, overlap increases dramatically, with over 100 peaks shared across all three factors. This suggests a strong, coordinated stress response where receptors bind accessible chromatin regions.</a:t>
            </a:r>
            <a:br>
              <a:rPr lang="en-GB" dirty="0"/>
            </a:br>
            <a:r>
              <a:rPr lang="en-GB" dirty="0"/>
              <a:t>At </a:t>
            </a:r>
            <a:r>
              <a:rPr lang="en-GB" b="1" dirty="0"/>
              <a:t>BLPM</a:t>
            </a:r>
            <a:r>
              <a:rPr lang="en-GB" dirty="0"/>
              <a:t>, overlap remains high, but GR shows more unique binding, which may reflect circadian-specific targets.</a:t>
            </a:r>
            <a:br>
              <a:rPr lang="en-GB" dirty="0"/>
            </a:br>
            <a:r>
              <a:rPr lang="en-GB" dirty="0"/>
              <a:t>Overall, these results support the idea that </a:t>
            </a:r>
            <a:r>
              <a:rPr lang="en-GB" b="1" dirty="0"/>
              <a:t>GR is most dynamic under stress</a:t>
            </a:r>
            <a:r>
              <a:rPr lang="en-GB" dirty="0"/>
              <a:t>, and that **chromatin accessibility likely plays a role in enabling that response at specific loci.</a:t>
            </a:r>
          </a:p>
        </p:txBody>
      </p:sp>
      <p:sp>
        <p:nvSpPr>
          <p:cNvPr id="4" name="Slide Number Placeholder 3"/>
          <p:cNvSpPr>
            <a:spLocks noGrp="1"/>
          </p:cNvSpPr>
          <p:nvPr>
            <p:ph type="sldNum" sz="quarter" idx="5"/>
          </p:nvPr>
        </p:nvSpPr>
        <p:spPr/>
        <p:txBody>
          <a:bodyPr/>
          <a:lstStyle/>
          <a:p>
            <a:fld id="{14370CD2-5C81-0141-8AEC-2A7E0970F300}" type="slidenum">
              <a:rPr lang="en-US" smtClean="0"/>
              <a:t>6</a:t>
            </a:fld>
            <a:endParaRPr lang="en-US"/>
          </a:p>
        </p:txBody>
      </p:sp>
    </p:spTree>
    <p:extLst>
      <p:ext uri="{BB962C8B-B14F-4D97-AF65-F5344CB8AC3E}">
        <p14:creationId xmlns:p14="http://schemas.microsoft.com/office/powerpoint/2010/main" val="2527176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Taking all the data together, we see a clear pattern emerge. GR binding was strongly stress-responsive, with 186 significant peaks and clear FS vs BLPM separation in the PCA. MR binding also shifted under stress, though more modestly, in line with its higher basal occupancy. Interestingly, S10 showed weak global separation, but still overlapped with GR at key loci like FKBP5. The Venn diagrams reinforce this: FS had the highest number of MR-GR-S10 triple overlaps, pointing to stress-specific co-regulation. At BLPM, the MR-only and MR-S10 overlaps were more prominent, consistent with a circadian accessibility model. These results align well with both Emily’s and Hans’ findings, suggesting that chromatin accessibility via H3K9acS10p modulates receptor binding in a locus- and condition-specific manner.</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7</a:t>
            </a:fld>
            <a:endParaRPr lang="en-US"/>
          </a:p>
        </p:txBody>
      </p:sp>
    </p:spTree>
    <p:extLst>
      <p:ext uri="{BB962C8B-B14F-4D97-AF65-F5344CB8AC3E}">
        <p14:creationId xmlns:p14="http://schemas.microsoft.com/office/powerpoint/2010/main" val="33365014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project adds to the growing understanding that transcriptional responses to stress are not only receptor-specific, but also shaped by the chromatin environment.</a:t>
            </a:r>
            <a:br>
              <a:rPr lang="en-GB" dirty="0"/>
            </a:br>
            <a:r>
              <a:rPr lang="en-GB" dirty="0"/>
              <a:t>Hans Reul’s paper highlighted GR’s dominant role under acute stress — my results reinforce this, with GR binding focused and condition-specific.</a:t>
            </a:r>
            <a:br>
              <a:rPr lang="en-GB" dirty="0"/>
            </a:br>
            <a:r>
              <a:rPr lang="en-GB" dirty="0"/>
              <a:t>In contrast, MR appears to provide a more continuous, possibly permissive signal, as suggested in Emily Price’s work.</a:t>
            </a:r>
            <a:br>
              <a:rPr lang="en-GB" dirty="0"/>
            </a:br>
            <a:r>
              <a:rPr lang="en-GB" dirty="0"/>
              <a:t>Although H3K9acS10p didn’t shift dramatically between FS and BLPM, its presence at key genes like FKBP5 supports the idea of </a:t>
            </a:r>
            <a:r>
              <a:rPr lang="en-GB" b="1" dirty="0"/>
              <a:t>epigenetic priming</a:t>
            </a:r>
            <a:r>
              <a:rPr lang="en-GB" dirty="0"/>
              <a:t> — where chromatin is kept in a ‘ready’ state for GR to act.</a:t>
            </a:r>
            <a:br>
              <a:rPr lang="en-GB" dirty="0"/>
            </a:br>
            <a:r>
              <a:rPr lang="en-GB" dirty="0"/>
              <a:t>My next steps are to run pathway analysis using IPA and complete the report, where I’ll integrate these findings with what we know about hippocampal stress signalling and epigenetic regulation.”</a:t>
            </a:r>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8</a:t>
            </a:fld>
            <a:endParaRPr lang="en-US"/>
          </a:p>
        </p:txBody>
      </p:sp>
    </p:spTree>
    <p:extLst>
      <p:ext uri="{BB962C8B-B14F-4D97-AF65-F5344CB8AC3E}">
        <p14:creationId xmlns:p14="http://schemas.microsoft.com/office/powerpoint/2010/main" val="329415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370CD2-5C81-0141-8AEC-2A7E0970F300}" type="slidenum">
              <a:rPr lang="en-US" smtClean="0"/>
              <a:t>9</a:t>
            </a:fld>
            <a:endParaRPr lang="en-US"/>
          </a:p>
        </p:txBody>
      </p:sp>
    </p:spTree>
    <p:extLst>
      <p:ext uri="{BB962C8B-B14F-4D97-AF65-F5344CB8AC3E}">
        <p14:creationId xmlns:p14="http://schemas.microsoft.com/office/powerpoint/2010/main" val="839984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9F9245D0-3E0F-1A46-8E36-B11A766B0A9B}" type="datetimeFigureOut">
              <a:rPr lang="en-US" smtClean="0"/>
              <a:t>7/20/25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376966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F9245D0-3E0F-1A46-8E36-B11A766B0A9B}" type="datetimeFigureOut">
              <a:rPr lang="en-US" smtClean="0"/>
              <a:t>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294376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383662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1684764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3379640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F9245D0-3E0F-1A46-8E36-B11A766B0A9B}" type="datetimeFigureOut">
              <a:rPr lang="en-US" smtClean="0"/>
              <a:t>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3259134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1507233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F9245D0-3E0F-1A46-8E36-B11A766B0A9B}" type="datetimeFigureOut">
              <a:rPr lang="en-US" smtClean="0"/>
              <a:t>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52004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191732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F9245D0-3E0F-1A46-8E36-B11A766B0A9B}" type="datetimeFigureOut">
              <a:rPr lang="en-US" smtClean="0"/>
              <a:t>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3634999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9F9245D0-3E0F-1A46-8E36-B11A766B0A9B}" type="datetimeFigureOut">
              <a:rPr lang="en-US" smtClean="0"/>
              <a:t>7/20/25</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C52875DE-B210-6F4D-AA6F-FBF1C20D0011}" type="slidenum">
              <a:rPr lang="en-US" smtClean="0"/>
              <a:t>‹#›</a:t>
            </a:fld>
            <a:endParaRPr lang="en-US"/>
          </a:p>
        </p:txBody>
      </p:sp>
    </p:spTree>
    <p:extLst>
      <p:ext uri="{BB962C8B-B14F-4D97-AF65-F5344CB8AC3E}">
        <p14:creationId xmlns:p14="http://schemas.microsoft.com/office/powerpoint/2010/main" val="455877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9F9245D0-3E0F-1A46-8E36-B11A766B0A9B}" type="datetimeFigureOut">
              <a:rPr lang="en-US" smtClean="0"/>
              <a:t>7/20/25</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C52875DE-B210-6F4D-AA6F-FBF1C20D0011}" type="slidenum">
              <a:rPr lang="en-US" smtClean="0"/>
              <a:t>‹#›</a:t>
            </a:fld>
            <a:endParaRPr lang="en-US"/>
          </a:p>
        </p:txBody>
      </p:sp>
    </p:spTree>
    <p:extLst>
      <p:ext uri="{BB962C8B-B14F-4D97-AF65-F5344CB8AC3E}">
        <p14:creationId xmlns:p14="http://schemas.microsoft.com/office/powerpoint/2010/main" val="2270972448"/>
      </p:ext>
    </p:extLst>
  </p:cSld>
  <p:clrMap bg1="lt1" tx1="dk1" bg2="lt2" tx2="dk2" accent1="accent1" accent2="accent2" accent3="accent3" accent4="accent4" accent5="accent5" accent6="accent6" hlink="hlink" folHlink="folHlink"/>
  <p:sldLayoutIdLst>
    <p:sldLayoutId id="2147483910" r:id="rId1"/>
    <p:sldLayoutId id="2147483911" r:id="rId2"/>
    <p:sldLayoutId id="2147483912" r:id="rId3"/>
    <p:sldLayoutId id="2147483913" r:id="rId4"/>
    <p:sldLayoutId id="2147483914" r:id="rId5"/>
    <p:sldLayoutId id="2147483915" r:id="rId6"/>
    <p:sldLayoutId id="2147483916" r:id="rId7"/>
    <p:sldLayoutId id="2147483917" r:id="rId8"/>
    <p:sldLayoutId id="2147483918" r:id="rId9"/>
    <p:sldLayoutId id="2147483919" r:id="rId10"/>
    <p:sldLayoutId id="2147483920" r:id="rId11"/>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75818-E657-BAA7-40C3-1271BDDF964A}"/>
              </a:ext>
            </a:extLst>
          </p:cNvPr>
          <p:cNvSpPr>
            <a:spLocks noGrp="1"/>
          </p:cNvSpPr>
          <p:nvPr>
            <p:ph type="ctrTitle"/>
          </p:nvPr>
        </p:nvSpPr>
        <p:spPr>
          <a:xfrm>
            <a:off x="1425146" y="2662881"/>
            <a:ext cx="9144000" cy="2387600"/>
          </a:xfrm>
        </p:spPr>
        <p:txBody>
          <a:bodyPr>
            <a:noAutofit/>
          </a:bodyPr>
          <a:lstStyle/>
          <a:p>
            <a:br>
              <a:rPr lang="en-GB" sz="1800" dirty="0"/>
            </a:br>
            <a:r>
              <a:rPr lang="en-GB" sz="1800" dirty="0"/>
              <a:t>Samia Niha</a:t>
            </a:r>
            <a:br>
              <a:rPr lang="en-GB" sz="1800" dirty="0"/>
            </a:br>
            <a:r>
              <a:rPr lang="en-GB" sz="1800" dirty="0"/>
              <a:t>MSc Bioinformatics</a:t>
            </a:r>
            <a:br>
              <a:rPr lang="en-GB" sz="1800" dirty="0"/>
            </a:br>
            <a:r>
              <a:rPr lang="en-GB" sz="1800" dirty="0"/>
              <a:t>Supervisors: Prof Hans Reul, Dr Karen Mifsud</a:t>
            </a:r>
            <a:br>
              <a:rPr lang="en-GB" sz="1800" dirty="0"/>
            </a:br>
            <a:endParaRPr lang="en-US" sz="1800" dirty="0"/>
          </a:p>
        </p:txBody>
      </p:sp>
      <p:sp>
        <p:nvSpPr>
          <p:cNvPr id="3" name="TextBox 2">
            <a:extLst>
              <a:ext uri="{FF2B5EF4-FFF2-40B4-BE49-F238E27FC236}">
                <a16:creationId xmlns:a16="http://schemas.microsoft.com/office/drawing/2014/main" id="{4F8DA7F3-940E-A663-9F38-F57A76E52AEC}"/>
              </a:ext>
            </a:extLst>
          </p:cNvPr>
          <p:cNvSpPr txBox="1"/>
          <p:nvPr/>
        </p:nvSpPr>
        <p:spPr>
          <a:xfrm>
            <a:off x="2493765" y="2662881"/>
            <a:ext cx="7469633" cy="646331"/>
          </a:xfrm>
          <a:prstGeom prst="rect">
            <a:avLst/>
          </a:prstGeom>
          <a:noFill/>
        </p:spPr>
        <p:txBody>
          <a:bodyPr wrap="square" rtlCol="0">
            <a:spAutoFit/>
          </a:bodyPr>
          <a:lstStyle/>
          <a:p>
            <a:r>
              <a:rPr lang="en-US" dirty="0">
                <a:solidFill>
                  <a:schemeClr val="bg1"/>
                </a:solidFill>
              </a:rPr>
              <a:t>Corticosteroid Receptor-Genome Interaction and Its Epigenetic Regulation Under Physiological Conditions in the Rat Hippocampus </a:t>
            </a:r>
          </a:p>
        </p:txBody>
      </p:sp>
    </p:spTree>
    <p:extLst>
      <p:ext uri="{BB962C8B-B14F-4D97-AF65-F5344CB8AC3E}">
        <p14:creationId xmlns:p14="http://schemas.microsoft.com/office/powerpoint/2010/main" val="2629196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CAC7D-FEDD-BCC1-17CE-6210323FF2A2}"/>
              </a:ext>
            </a:extLst>
          </p:cNvPr>
          <p:cNvSpPr>
            <a:spLocks noGrp="1"/>
          </p:cNvSpPr>
          <p:nvPr>
            <p:ph type="title"/>
          </p:nvPr>
        </p:nvSpPr>
        <p:spPr>
          <a:xfrm>
            <a:off x="1361767" y="285151"/>
            <a:ext cx="9468465" cy="938965"/>
          </a:xfrm>
        </p:spPr>
        <p:txBody>
          <a:bodyPr>
            <a:normAutofit fontScale="90000"/>
          </a:bodyPr>
          <a:lstStyle/>
          <a:p>
            <a:r>
              <a:rPr lang="en-GB" dirty="0">
                <a:solidFill>
                  <a:schemeClr val="tx1"/>
                </a:solidFill>
              </a:rPr>
              <a:t>Corticosteroid Signalling in the Hippocampus</a:t>
            </a:r>
            <a:endParaRPr lang="en-US" dirty="0">
              <a:solidFill>
                <a:schemeClr val="tx1"/>
              </a:solidFill>
            </a:endParaRPr>
          </a:p>
        </p:txBody>
      </p:sp>
      <p:sp>
        <p:nvSpPr>
          <p:cNvPr id="3" name="Content Placeholder 2">
            <a:extLst>
              <a:ext uri="{FF2B5EF4-FFF2-40B4-BE49-F238E27FC236}">
                <a16:creationId xmlns:a16="http://schemas.microsoft.com/office/drawing/2014/main" id="{9DE459D8-1387-2630-B326-64FC94CD8541}"/>
              </a:ext>
            </a:extLst>
          </p:cNvPr>
          <p:cNvSpPr>
            <a:spLocks noGrp="1"/>
          </p:cNvSpPr>
          <p:nvPr>
            <p:ph idx="1"/>
          </p:nvPr>
        </p:nvSpPr>
        <p:spPr>
          <a:xfrm>
            <a:off x="5015207" y="4291583"/>
            <a:ext cx="6281873" cy="1098641"/>
          </a:xfrm>
        </p:spPr>
        <p:txBody>
          <a:bodyPr>
            <a:normAutofit/>
          </a:bodyPr>
          <a:lstStyle/>
          <a:p>
            <a:r>
              <a:rPr lang="en-GB" dirty="0"/>
              <a:t>H3K9acS10p = active chromatin mark</a:t>
            </a:r>
            <a:br>
              <a:rPr lang="en-GB" dirty="0"/>
            </a:br>
            <a:r>
              <a:rPr lang="en-GB" dirty="0"/>
              <a:t>“May regulate GR/MR access to DNA under different GC conditions”</a:t>
            </a:r>
          </a:p>
          <a:p>
            <a:endParaRPr lang="en-US" dirty="0"/>
          </a:p>
        </p:txBody>
      </p:sp>
      <p:graphicFrame>
        <p:nvGraphicFramePr>
          <p:cNvPr id="5" name="Table 4">
            <a:extLst>
              <a:ext uri="{FF2B5EF4-FFF2-40B4-BE49-F238E27FC236}">
                <a16:creationId xmlns:a16="http://schemas.microsoft.com/office/drawing/2014/main" id="{CCA440C3-4857-CD3F-E462-47C5BAF3C95B}"/>
              </a:ext>
            </a:extLst>
          </p:cNvPr>
          <p:cNvGraphicFramePr>
            <a:graphicFrameLocks noGrp="1"/>
          </p:cNvGraphicFramePr>
          <p:nvPr>
            <p:extLst>
              <p:ext uri="{D42A27DB-BD31-4B8C-83A1-F6EECF244321}">
                <p14:modId xmlns:p14="http://schemas.microsoft.com/office/powerpoint/2010/main" val="2781929130"/>
              </p:ext>
            </p:extLst>
          </p:nvPr>
        </p:nvGraphicFramePr>
        <p:xfrm>
          <a:off x="5015207" y="1604264"/>
          <a:ext cx="6636513" cy="2291080"/>
        </p:xfrm>
        <a:graphic>
          <a:graphicData uri="http://schemas.openxmlformats.org/drawingml/2006/table">
            <a:tbl>
              <a:tblPr firstRow="1" bandRow="1">
                <a:tableStyleId>{5C22544A-7EE6-4342-B048-85BDC9FD1C3A}</a:tableStyleId>
              </a:tblPr>
              <a:tblGrid>
                <a:gridCol w="2212171">
                  <a:extLst>
                    <a:ext uri="{9D8B030D-6E8A-4147-A177-3AD203B41FA5}">
                      <a16:colId xmlns:a16="http://schemas.microsoft.com/office/drawing/2014/main" val="2454785677"/>
                    </a:ext>
                  </a:extLst>
                </a:gridCol>
                <a:gridCol w="2212171">
                  <a:extLst>
                    <a:ext uri="{9D8B030D-6E8A-4147-A177-3AD203B41FA5}">
                      <a16:colId xmlns:a16="http://schemas.microsoft.com/office/drawing/2014/main" val="1650944271"/>
                    </a:ext>
                  </a:extLst>
                </a:gridCol>
                <a:gridCol w="2212171">
                  <a:extLst>
                    <a:ext uri="{9D8B030D-6E8A-4147-A177-3AD203B41FA5}">
                      <a16:colId xmlns:a16="http://schemas.microsoft.com/office/drawing/2014/main" val="4046400106"/>
                    </a:ext>
                  </a:extLst>
                </a:gridCol>
              </a:tblGrid>
              <a:tr h="370840">
                <a:tc>
                  <a:txBody>
                    <a:bodyPr/>
                    <a:lstStyle/>
                    <a:p>
                      <a:r>
                        <a:rPr lang="en-US" dirty="0"/>
                        <a:t>Condition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GC Level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Biological Context</a:t>
                      </a:r>
                    </a:p>
                  </a:txBody>
                  <a:tcPr/>
                </a:tc>
                <a:extLst>
                  <a:ext uri="{0D108BD9-81ED-4DB2-BD59-A6C34878D82A}">
                    <a16:rowId xmlns:a16="http://schemas.microsoft.com/office/drawing/2014/main" val="1860815749"/>
                  </a:ext>
                </a:extLst>
              </a:tr>
              <a:tr h="370840">
                <a:tc>
                  <a:txBody>
                    <a:bodyPr/>
                    <a:lstStyle/>
                    <a:p>
                      <a:r>
                        <a:rPr lang="en-US" dirty="0"/>
                        <a:t>BLAM</a:t>
                      </a:r>
                    </a:p>
                  </a:txBody>
                  <a:tcPr/>
                </a:tc>
                <a:tc>
                  <a:txBody>
                    <a:bodyPr/>
                    <a:lstStyle/>
                    <a:p>
                      <a:r>
                        <a:rPr lang="en-US" dirty="0"/>
                        <a:t>Low</a:t>
                      </a:r>
                    </a:p>
                  </a:txBody>
                  <a:tcPr/>
                </a:tc>
                <a:tc>
                  <a:txBody>
                    <a:bodyPr/>
                    <a:lstStyle/>
                    <a:p>
                      <a:r>
                        <a:rPr lang="en-US" dirty="0"/>
                        <a:t>Morning Baseline</a:t>
                      </a:r>
                    </a:p>
                  </a:txBody>
                  <a:tcPr/>
                </a:tc>
                <a:extLst>
                  <a:ext uri="{0D108BD9-81ED-4DB2-BD59-A6C34878D82A}">
                    <a16:rowId xmlns:a16="http://schemas.microsoft.com/office/drawing/2014/main" val="2162931034"/>
                  </a:ext>
                </a:extLst>
              </a:tr>
              <a:tr h="370840">
                <a:tc>
                  <a:txBody>
                    <a:bodyPr/>
                    <a:lstStyle/>
                    <a:p>
                      <a:r>
                        <a:rPr lang="en-US" dirty="0"/>
                        <a:t>BLPM</a:t>
                      </a:r>
                    </a:p>
                  </a:txBody>
                  <a:tcPr/>
                </a:tc>
                <a:tc>
                  <a:txBody>
                    <a:bodyPr/>
                    <a:lstStyle/>
                    <a:p>
                      <a:r>
                        <a:rPr lang="en-US" dirty="0"/>
                        <a:t>Moderate</a:t>
                      </a:r>
                    </a:p>
                  </a:txBody>
                  <a:tcPr/>
                </a:tc>
                <a:tc>
                  <a:txBody>
                    <a:bodyPr/>
                    <a:lstStyle/>
                    <a:p>
                      <a:r>
                        <a:rPr lang="en-US" dirty="0"/>
                        <a:t>Afternoon circadian peak</a:t>
                      </a:r>
                    </a:p>
                  </a:txBody>
                  <a:tcPr/>
                </a:tc>
                <a:extLst>
                  <a:ext uri="{0D108BD9-81ED-4DB2-BD59-A6C34878D82A}">
                    <a16:rowId xmlns:a16="http://schemas.microsoft.com/office/drawing/2014/main" val="1039456274"/>
                  </a:ext>
                </a:extLst>
              </a:tr>
              <a:tr h="370840">
                <a:tc>
                  <a:txBody>
                    <a:bodyPr/>
                    <a:lstStyle/>
                    <a:p>
                      <a:r>
                        <a:rPr lang="en-US" dirty="0"/>
                        <a:t>FS30</a:t>
                      </a:r>
                    </a:p>
                  </a:txBody>
                  <a:tcPr/>
                </a:tc>
                <a:tc>
                  <a:txBody>
                    <a:bodyPr/>
                    <a:lstStyle/>
                    <a:p>
                      <a:r>
                        <a:rPr lang="en-US" dirty="0"/>
                        <a:t>Very High</a:t>
                      </a:r>
                    </a:p>
                  </a:txBody>
                  <a:tcPr/>
                </a:tc>
                <a:tc>
                  <a:txBody>
                    <a:bodyPr/>
                    <a:lstStyle/>
                    <a:p>
                      <a:r>
                        <a:rPr lang="en-US" dirty="0"/>
                        <a:t>Acute stress (forced swim)</a:t>
                      </a:r>
                    </a:p>
                  </a:txBody>
                  <a:tcPr/>
                </a:tc>
                <a:extLst>
                  <a:ext uri="{0D108BD9-81ED-4DB2-BD59-A6C34878D82A}">
                    <a16:rowId xmlns:a16="http://schemas.microsoft.com/office/drawing/2014/main" val="3913607971"/>
                  </a:ext>
                </a:extLst>
              </a:tr>
            </a:tbl>
          </a:graphicData>
        </a:graphic>
      </p:graphicFrame>
      <p:pic>
        <p:nvPicPr>
          <p:cNvPr id="7" name="Picture 6">
            <a:extLst>
              <a:ext uri="{FF2B5EF4-FFF2-40B4-BE49-F238E27FC236}">
                <a16:creationId xmlns:a16="http://schemas.microsoft.com/office/drawing/2014/main" id="{3067D87A-3649-CB27-0602-7134ADA61802}"/>
              </a:ext>
            </a:extLst>
          </p:cNvPr>
          <p:cNvPicPr>
            <a:picLocks noChangeAspect="1"/>
          </p:cNvPicPr>
          <p:nvPr/>
        </p:nvPicPr>
        <p:blipFill>
          <a:blip r:embed="rId3"/>
          <a:stretch>
            <a:fillRect/>
          </a:stretch>
        </p:blipFill>
        <p:spPr>
          <a:xfrm>
            <a:off x="384124" y="1016716"/>
            <a:ext cx="4427745" cy="5757255"/>
          </a:xfrm>
          <a:prstGeom prst="rect">
            <a:avLst/>
          </a:prstGeom>
        </p:spPr>
      </p:pic>
    </p:spTree>
    <p:extLst>
      <p:ext uri="{BB962C8B-B14F-4D97-AF65-F5344CB8AC3E}">
        <p14:creationId xmlns:p14="http://schemas.microsoft.com/office/powerpoint/2010/main" val="4155926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79E2-B5BE-07D2-970F-508453E6F863}"/>
              </a:ext>
            </a:extLst>
          </p:cNvPr>
          <p:cNvSpPr>
            <a:spLocks noGrp="1"/>
          </p:cNvSpPr>
          <p:nvPr>
            <p:ph type="title"/>
          </p:nvPr>
        </p:nvSpPr>
        <p:spPr>
          <a:xfrm>
            <a:off x="606910" y="2831526"/>
            <a:ext cx="4045363" cy="1338470"/>
          </a:xfrm>
        </p:spPr>
        <p:txBody>
          <a:bodyPr>
            <a:noAutofit/>
          </a:bodyPr>
          <a:lstStyle/>
          <a:p>
            <a:r>
              <a:rPr lang="en-GB" sz="2100" dirty="0"/>
              <a:t>MR and GR bind distinct gene sets under stress (FS) vs circadian (BLPM) conditions, influenced by chromatin accessibility, particularly H3K9acS10p enrichment.</a:t>
            </a:r>
            <a:endParaRPr lang="en-US" sz="2100" dirty="0"/>
          </a:p>
        </p:txBody>
      </p:sp>
      <p:sp>
        <p:nvSpPr>
          <p:cNvPr id="3" name="Content Placeholder 2">
            <a:extLst>
              <a:ext uri="{FF2B5EF4-FFF2-40B4-BE49-F238E27FC236}">
                <a16:creationId xmlns:a16="http://schemas.microsoft.com/office/drawing/2014/main" id="{6F458531-17CB-7F0A-97AA-F771DDCFD216}"/>
              </a:ext>
            </a:extLst>
          </p:cNvPr>
          <p:cNvSpPr>
            <a:spLocks noGrp="1"/>
          </p:cNvSpPr>
          <p:nvPr>
            <p:ph idx="1"/>
          </p:nvPr>
        </p:nvSpPr>
        <p:spPr/>
        <p:txBody>
          <a:bodyPr>
            <a:normAutofit/>
          </a:bodyPr>
          <a:lstStyle/>
          <a:p>
            <a:endParaRPr lang="en-GB" dirty="0"/>
          </a:p>
          <a:p>
            <a:pPr marL="0" indent="0">
              <a:buNone/>
            </a:pPr>
            <a:r>
              <a:rPr lang="en-GB" b="1" dirty="0"/>
              <a:t>Key Objectives</a:t>
            </a:r>
          </a:p>
          <a:p>
            <a:r>
              <a:rPr lang="en-GB" dirty="0"/>
              <a:t>Characterise condition-specific MR and GR binding in the rat hippocampus</a:t>
            </a:r>
          </a:p>
          <a:p>
            <a:r>
              <a:rPr lang="en-GB" dirty="0"/>
              <a:t>Investigate whether H3K9acS10p enrichment correlates with receptor binding</a:t>
            </a:r>
          </a:p>
          <a:p>
            <a:r>
              <a:rPr lang="en-GB" dirty="0"/>
              <a:t>Distinguish stress-induced gene regulation from circadian-driven patterns</a:t>
            </a:r>
          </a:p>
          <a:p>
            <a:r>
              <a:rPr lang="en-GB" dirty="0"/>
              <a:t>Identify genomic regions and genes selectively targeted in FS vs BLPM</a:t>
            </a:r>
          </a:p>
          <a:p>
            <a:r>
              <a:rPr lang="en-GB" dirty="0"/>
              <a:t>Explore functional relevance of differentially bound genes via pathway analysis</a:t>
            </a:r>
          </a:p>
          <a:p>
            <a:pPr marL="0" indent="0">
              <a:buNone/>
            </a:pPr>
            <a:endParaRPr lang="en-GB" b="1" dirty="0"/>
          </a:p>
        </p:txBody>
      </p:sp>
      <p:sp>
        <p:nvSpPr>
          <p:cNvPr id="5" name="Content Placeholder 2">
            <a:extLst>
              <a:ext uri="{FF2B5EF4-FFF2-40B4-BE49-F238E27FC236}">
                <a16:creationId xmlns:a16="http://schemas.microsoft.com/office/drawing/2014/main" id="{32D686D8-B114-6B16-E200-FE9960546765}"/>
              </a:ext>
            </a:extLst>
          </p:cNvPr>
          <p:cNvSpPr txBox="1">
            <a:spLocks/>
          </p:cNvSpPr>
          <p:nvPr/>
        </p:nvSpPr>
        <p:spPr>
          <a:xfrm>
            <a:off x="5270847" y="955586"/>
            <a:ext cx="6281873" cy="5248622"/>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Font typeface="Wingdings" panose="05000000000000000000" pitchFamily="2" charset="2"/>
              <a:buNone/>
            </a:pPr>
            <a:endParaRPr lang="en-US" dirty="0"/>
          </a:p>
        </p:txBody>
      </p:sp>
      <p:sp>
        <p:nvSpPr>
          <p:cNvPr id="7" name="Content Placeholder 2">
            <a:extLst>
              <a:ext uri="{FF2B5EF4-FFF2-40B4-BE49-F238E27FC236}">
                <a16:creationId xmlns:a16="http://schemas.microsoft.com/office/drawing/2014/main" id="{3BE7B47A-7E5C-3223-B876-27F75455A8DB}"/>
              </a:ext>
            </a:extLst>
          </p:cNvPr>
          <p:cNvSpPr txBox="1">
            <a:spLocks/>
          </p:cNvSpPr>
          <p:nvPr/>
        </p:nvSpPr>
        <p:spPr>
          <a:xfrm>
            <a:off x="1803883" y="1645980"/>
            <a:ext cx="2382216" cy="502153"/>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a:lstStyle>
          <a:p>
            <a:pPr marL="0" indent="0">
              <a:buFont typeface="Wingdings" panose="05000000000000000000" pitchFamily="2" charset="2"/>
              <a:buNone/>
            </a:pPr>
            <a:r>
              <a:rPr lang="en-US" sz="2400" dirty="0">
                <a:solidFill>
                  <a:schemeClr val="bg1"/>
                </a:solidFill>
                <a:latin typeface="+mj-lt"/>
              </a:rPr>
              <a:t>Hypothesis</a:t>
            </a:r>
          </a:p>
        </p:txBody>
      </p:sp>
    </p:spTree>
    <p:extLst>
      <p:ext uri="{BB962C8B-B14F-4D97-AF65-F5344CB8AC3E}">
        <p14:creationId xmlns:p14="http://schemas.microsoft.com/office/powerpoint/2010/main" val="2574730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376C6-AA7A-D295-E69F-E6B0509379A0}"/>
              </a:ext>
            </a:extLst>
          </p:cNvPr>
          <p:cNvSpPr>
            <a:spLocks noGrp="1"/>
          </p:cNvSpPr>
          <p:nvPr>
            <p:ph type="title"/>
          </p:nvPr>
        </p:nvSpPr>
        <p:spPr>
          <a:xfrm>
            <a:off x="901510" y="1409766"/>
            <a:ext cx="3498979" cy="1114492"/>
          </a:xfrm>
        </p:spPr>
        <p:txBody>
          <a:bodyPr/>
          <a:lstStyle/>
          <a:p>
            <a:r>
              <a:rPr lang="en-US" dirty="0"/>
              <a:t>Method </a:t>
            </a:r>
          </a:p>
        </p:txBody>
      </p:sp>
      <p:sp>
        <p:nvSpPr>
          <p:cNvPr id="3" name="TextBox 2">
            <a:extLst>
              <a:ext uri="{FF2B5EF4-FFF2-40B4-BE49-F238E27FC236}">
                <a16:creationId xmlns:a16="http://schemas.microsoft.com/office/drawing/2014/main" id="{1A13652E-3156-1F98-203D-3449ABBA984F}"/>
              </a:ext>
            </a:extLst>
          </p:cNvPr>
          <p:cNvSpPr txBox="1"/>
          <p:nvPr/>
        </p:nvSpPr>
        <p:spPr>
          <a:xfrm>
            <a:off x="4570873" y="150463"/>
            <a:ext cx="1805354" cy="954107"/>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Chip-seq data</a:t>
            </a:r>
          </a:p>
          <a:p>
            <a:pPr algn="ctr"/>
            <a:r>
              <a:rPr lang="en-US" sz="1400" dirty="0">
                <a:solidFill>
                  <a:schemeClr val="bg1"/>
                </a:solidFill>
                <a:latin typeface="Times New Roman" panose="02020603050405020304" pitchFamily="18" charset="0"/>
                <a:cs typeface="Times New Roman" panose="02020603050405020304" pitchFamily="18" charset="0"/>
              </a:rPr>
              <a:t>(MR,GR,S10)</a:t>
            </a:r>
          </a:p>
          <a:p>
            <a:pPr algn="ctr"/>
            <a:r>
              <a:rPr lang="en-US" sz="1400" dirty="0">
                <a:solidFill>
                  <a:schemeClr val="bg1"/>
                </a:solidFill>
                <a:latin typeface="Times New Roman" panose="02020603050405020304" pitchFamily="18" charset="0"/>
                <a:cs typeface="Times New Roman" panose="02020603050405020304" pitchFamily="18" charset="0"/>
              </a:rPr>
              <a:t>Quality Control</a:t>
            </a:r>
          </a:p>
          <a:p>
            <a:pPr algn="ctr"/>
            <a:r>
              <a:rPr lang="en-US" sz="1400" dirty="0">
                <a:solidFill>
                  <a:schemeClr val="bg1"/>
                </a:solidFill>
                <a:latin typeface="Times New Roman" panose="02020603050405020304" pitchFamily="18" charset="0"/>
                <a:cs typeface="Times New Roman" panose="02020603050405020304" pitchFamily="18" charset="0"/>
              </a:rPr>
              <a:t>(</a:t>
            </a:r>
            <a:r>
              <a:rPr lang="en-US" sz="1400" dirty="0" err="1">
                <a:solidFill>
                  <a:schemeClr val="bg1"/>
                </a:solidFill>
                <a:latin typeface="Times New Roman" panose="02020603050405020304" pitchFamily="18" charset="0"/>
                <a:cs typeface="Times New Roman" panose="02020603050405020304" pitchFamily="18" charset="0"/>
              </a:rPr>
              <a:t>FastQC</a:t>
            </a:r>
            <a:r>
              <a:rPr lang="en-US" sz="1400" dirty="0">
                <a:solidFill>
                  <a:schemeClr val="bg1"/>
                </a:solidFill>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FCE375E0-4B7E-0BEC-C08F-2A7E61AA45F2}"/>
              </a:ext>
            </a:extLst>
          </p:cNvPr>
          <p:cNvSpPr txBox="1"/>
          <p:nvPr/>
        </p:nvSpPr>
        <p:spPr>
          <a:xfrm>
            <a:off x="4585909" y="1197521"/>
            <a:ext cx="1805354" cy="523220"/>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Peak calling (MACS2)</a:t>
            </a:r>
          </a:p>
        </p:txBody>
      </p:sp>
      <p:sp>
        <p:nvSpPr>
          <p:cNvPr id="5" name="TextBox 4">
            <a:extLst>
              <a:ext uri="{FF2B5EF4-FFF2-40B4-BE49-F238E27FC236}">
                <a16:creationId xmlns:a16="http://schemas.microsoft.com/office/drawing/2014/main" id="{A19A9455-C968-5FE3-3ED0-07E93CF1C772}"/>
              </a:ext>
            </a:extLst>
          </p:cNvPr>
          <p:cNvSpPr txBox="1"/>
          <p:nvPr/>
        </p:nvSpPr>
        <p:spPr>
          <a:xfrm>
            <a:off x="4585909" y="1879737"/>
            <a:ext cx="1805354" cy="523220"/>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Differential binding analysis (</a:t>
            </a:r>
            <a:r>
              <a:rPr lang="en-US" sz="1400" dirty="0" err="1">
                <a:solidFill>
                  <a:schemeClr val="bg1"/>
                </a:solidFill>
                <a:latin typeface="Times New Roman" panose="02020603050405020304" pitchFamily="18" charset="0"/>
                <a:cs typeface="Times New Roman" panose="02020603050405020304" pitchFamily="18" charset="0"/>
              </a:rPr>
              <a:t>DiffBind</a:t>
            </a:r>
            <a:r>
              <a:rPr lang="en-US" sz="1400" dirty="0">
                <a:solidFill>
                  <a:schemeClr val="bg1"/>
                </a:solidFill>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7902F6E6-6DBA-D0DE-1501-670D6032A136}"/>
              </a:ext>
            </a:extLst>
          </p:cNvPr>
          <p:cNvSpPr txBox="1"/>
          <p:nvPr/>
        </p:nvSpPr>
        <p:spPr>
          <a:xfrm>
            <a:off x="4585909" y="2524258"/>
            <a:ext cx="1805354" cy="523220"/>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Peak annotation (</a:t>
            </a:r>
            <a:r>
              <a:rPr lang="en-US" sz="1400" dirty="0" err="1">
                <a:solidFill>
                  <a:schemeClr val="bg1"/>
                </a:solidFill>
                <a:latin typeface="Times New Roman" panose="02020603050405020304" pitchFamily="18" charset="0"/>
                <a:cs typeface="Times New Roman" panose="02020603050405020304" pitchFamily="18" charset="0"/>
              </a:rPr>
              <a:t>ChIPseeker</a:t>
            </a:r>
            <a:r>
              <a:rPr lang="en-US" sz="1400" dirty="0">
                <a:solidFill>
                  <a:schemeClr val="bg1"/>
                </a:solidFill>
                <a:latin typeface="Times New Roman" panose="02020603050405020304" pitchFamily="18" charset="0"/>
                <a:cs typeface="Times New Roman" panose="02020603050405020304" pitchFamily="18" charset="0"/>
              </a:rPr>
              <a:t>)</a:t>
            </a:r>
          </a:p>
        </p:txBody>
      </p:sp>
      <p:sp>
        <p:nvSpPr>
          <p:cNvPr id="7" name="TextBox 6">
            <a:extLst>
              <a:ext uri="{FF2B5EF4-FFF2-40B4-BE49-F238E27FC236}">
                <a16:creationId xmlns:a16="http://schemas.microsoft.com/office/drawing/2014/main" id="{B82DBAA6-37FD-4848-A3E0-72679150C6A1}"/>
              </a:ext>
            </a:extLst>
          </p:cNvPr>
          <p:cNvSpPr txBox="1"/>
          <p:nvPr/>
        </p:nvSpPr>
        <p:spPr>
          <a:xfrm>
            <a:off x="4585909" y="4810402"/>
            <a:ext cx="1805354" cy="523220"/>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Filtering &amp; IPA gene list preparation</a:t>
            </a:r>
          </a:p>
        </p:txBody>
      </p:sp>
      <p:sp>
        <p:nvSpPr>
          <p:cNvPr id="8" name="TextBox 7">
            <a:extLst>
              <a:ext uri="{FF2B5EF4-FFF2-40B4-BE49-F238E27FC236}">
                <a16:creationId xmlns:a16="http://schemas.microsoft.com/office/drawing/2014/main" id="{1E77B180-132C-80C5-D1B5-05FD435D366B}"/>
              </a:ext>
            </a:extLst>
          </p:cNvPr>
          <p:cNvSpPr txBox="1"/>
          <p:nvPr/>
        </p:nvSpPr>
        <p:spPr>
          <a:xfrm>
            <a:off x="4570873" y="3129104"/>
            <a:ext cx="1805354" cy="738664"/>
          </a:xfrm>
          <a:prstGeom prst="rect">
            <a:avLst/>
          </a:prstGeom>
          <a:solidFill>
            <a:schemeClr val="accent1"/>
          </a:solidFill>
        </p:spPr>
        <p:txBody>
          <a:bodyPr wrap="square" rtlCol="0">
            <a:spAutoFit/>
          </a:bodyPr>
          <a:lstStyle/>
          <a:p>
            <a:pPr algn="ctr"/>
            <a:r>
              <a:rPr lang="en-US" sz="1400" dirty="0" err="1">
                <a:solidFill>
                  <a:schemeClr val="bg1"/>
                </a:solidFill>
                <a:latin typeface="Times New Roman" panose="02020603050405020304" pitchFamily="18" charset="0"/>
                <a:cs typeface="Times New Roman" panose="02020603050405020304" pitchFamily="18" charset="0"/>
              </a:rPr>
              <a:t>Visualisation</a:t>
            </a:r>
            <a:r>
              <a:rPr lang="en-US" sz="1400" dirty="0">
                <a:solidFill>
                  <a:schemeClr val="bg1"/>
                </a:solidFill>
                <a:latin typeface="Times New Roman" panose="02020603050405020304" pitchFamily="18" charset="0"/>
                <a:cs typeface="Times New Roman" panose="02020603050405020304" pitchFamily="18" charset="0"/>
              </a:rPr>
              <a:t> (PCA, heatmap, MA, Volcano plots.</a:t>
            </a:r>
          </a:p>
        </p:txBody>
      </p:sp>
      <p:sp>
        <p:nvSpPr>
          <p:cNvPr id="9" name="TextBox 8">
            <a:extLst>
              <a:ext uri="{FF2B5EF4-FFF2-40B4-BE49-F238E27FC236}">
                <a16:creationId xmlns:a16="http://schemas.microsoft.com/office/drawing/2014/main" id="{E7CA5AFE-BFEC-A73C-6C07-22AFF972C762}"/>
              </a:ext>
            </a:extLst>
          </p:cNvPr>
          <p:cNvSpPr txBox="1"/>
          <p:nvPr/>
        </p:nvSpPr>
        <p:spPr>
          <a:xfrm>
            <a:off x="4585909" y="3949394"/>
            <a:ext cx="1805354" cy="738664"/>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Separate </a:t>
            </a:r>
            <a:r>
              <a:rPr lang="en-US" sz="1400" dirty="0" err="1">
                <a:solidFill>
                  <a:schemeClr val="bg1"/>
                </a:solidFill>
                <a:latin typeface="Times New Roman" panose="02020603050405020304" pitchFamily="18" charset="0"/>
                <a:cs typeface="Times New Roman" panose="02020603050405020304" pitchFamily="18" charset="0"/>
              </a:rPr>
              <a:t>Diffbind</a:t>
            </a:r>
            <a:r>
              <a:rPr lang="en-US" sz="1400" dirty="0">
                <a:solidFill>
                  <a:schemeClr val="bg1"/>
                </a:solidFill>
                <a:latin typeface="Times New Roman" panose="02020603050405020304" pitchFamily="18" charset="0"/>
                <a:cs typeface="Times New Roman" panose="02020603050405020304" pitchFamily="18" charset="0"/>
              </a:rPr>
              <a:t> for Venn Diagram </a:t>
            </a:r>
            <a:r>
              <a:rPr lang="en-US" sz="1400" dirty="0" err="1">
                <a:solidFill>
                  <a:schemeClr val="bg1"/>
                </a:solidFill>
                <a:latin typeface="Times New Roman" panose="02020603050405020304" pitchFamily="18" charset="0"/>
                <a:cs typeface="Times New Roman" panose="02020603050405020304" pitchFamily="18" charset="0"/>
              </a:rPr>
              <a:t>Visualisation</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1996918-B6C6-7F32-7AC4-7737D9EDF645}"/>
              </a:ext>
            </a:extLst>
          </p:cNvPr>
          <p:cNvSpPr txBox="1"/>
          <p:nvPr/>
        </p:nvSpPr>
        <p:spPr>
          <a:xfrm>
            <a:off x="4585909" y="5546724"/>
            <a:ext cx="1805354" cy="523220"/>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Functional enrichment (IPA / GO)</a:t>
            </a:r>
          </a:p>
        </p:txBody>
      </p:sp>
      <p:sp>
        <p:nvSpPr>
          <p:cNvPr id="11" name="TextBox 10">
            <a:extLst>
              <a:ext uri="{FF2B5EF4-FFF2-40B4-BE49-F238E27FC236}">
                <a16:creationId xmlns:a16="http://schemas.microsoft.com/office/drawing/2014/main" id="{AB21C5DF-5F27-CD68-59C4-E126686E71E2}"/>
              </a:ext>
            </a:extLst>
          </p:cNvPr>
          <p:cNvSpPr txBox="1"/>
          <p:nvPr/>
        </p:nvSpPr>
        <p:spPr>
          <a:xfrm>
            <a:off x="4585909" y="6250281"/>
            <a:ext cx="1805354" cy="307777"/>
          </a:xfrm>
          <a:prstGeom prst="rect">
            <a:avLst/>
          </a:prstGeom>
          <a:solidFill>
            <a:schemeClr val="accent1"/>
          </a:solid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Project write up </a:t>
            </a:r>
          </a:p>
        </p:txBody>
      </p:sp>
      <p:sp>
        <p:nvSpPr>
          <p:cNvPr id="12" name="TextBox 11">
            <a:extLst>
              <a:ext uri="{FF2B5EF4-FFF2-40B4-BE49-F238E27FC236}">
                <a16:creationId xmlns:a16="http://schemas.microsoft.com/office/drawing/2014/main" id="{3A8E92ED-30B4-8900-7469-657A11D23DC9}"/>
              </a:ext>
            </a:extLst>
          </p:cNvPr>
          <p:cNvSpPr txBox="1"/>
          <p:nvPr/>
        </p:nvSpPr>
        <p:spPr>
          <a:xfrm>
            <a:off x="711978" y="1693360"/>
            <a:ext cx="3873931" cy="3539430"/>
          </a:xfrm>
          <a:prstGeom prst="rect">
            <a:avLst/>
          </a:prstGeom>
          <a:solidFill>
            <a:schemeClr val="bg1"/>
          </a:solidFill>
        </p:spPr>
        <p:txBody>
          <a:bodyPr wrap="square" rtlCol="0">
            <a:spAutoFit/>
          </a:bodyPr>
          <a:lstStyle/>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a:p>
            <a:pPr algn="ct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C80592B-26AC-605D-E988-6CDD25CAC5EC}"/>
              </a:ext>
            </a:extLst>
          </p:cNvPr>
          <p:cNvSpPr txBox="1"/>
          <p:nvPr/>
        </p:nvSpPr>
        <p:spPr>
          <a:xfrm>
            <a:off x="1595760" y="2570424"/>
            <a:ext cx="2366640" cy="1200329"/>
          </a:xfrm>
          <a:prstGeom prst="rect">
            <a:avLst/>
          </a:prstGeom>
          <a:solidFill>
            <a:schemeClr val="accent1"/>
          </a:solidFill>
        </p:spPr>
        <p:txBody>
          <a:bodyPr wrap="square" rtlCol="0">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Methods Pipeline</a:t>
            </a:r>
          </a:p>
        </p:txBody>
      </p:sp>
      <p:sp>
        <p:nvSpPr>
          <p:cNvPr id="14" name="Down Arrow 13">
            <a:extLst>
              <a:ext uri="{FF2B5EF4-FFF2-40B4-BE49-F238E27FC236}">
                <a16:creationId xmlns:a16="http://schemas.microsoft.com/office/drawing/2014/main" id="{8416F589-CB2A-C2B8-7419-676A617AA23B}"/>
              </a:ext>
            </a:extLst>
          </p:cNvPr>
          <p:cNvSpPr/>
          <p:nvPr/>
        </p:nvSpPr>
        <p:spPr>
          <a:xfrm>
            <a:off x="6665843" y="150463"/>
            <a:ext cx="225287" cy="6407595"/>
          </a:xfrm>
          <a:prstGeom prst="downArrow">
            <a:avLst/>
          </a:prstGeom>
          <a:gradFill flip="none" rotWithShape="1">
            <a:gsLst>
              <a:gs pos="0">
                <a:schemeClr val="accent1">
                  <a:lumMod val="0"/>
                  <a:lumOff val="100000"/>
                </a:schemeClr>
              </a:gs>
              <a:gs pos="37000">
                <a:schemeClr val="accent1">
                  <a:lumMod val="0"/>
                  <a:lumOff val="100000"/>
                </a:schemeClr>
              </a:gs>
              <a:gs pos="100000">
                <a:schemeClr val="accent1">
                  <a:lumMod val="100000"/>
                </a:schemeClr>
              </a:gs>
            </a:gsLst>
            <a:path path="circle">
              <a:fillToRect l="50000" t="-80000" r="50000" b="18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a16="http://schemas.microsoft.com/office/drawing/2014/main" id="{A3EAD8B2-215D-1FB1-50DD-A1D77E4E5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4772" y="273201"/>
            <a:ext cx="4907343" cy="373629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85211B94-AB3E-F231-9DDE-F4CDAD25492A}"/>
              </a:ext>
            </a:extLst>
          </p:cNvPr>
          <p:cNvPicPr>
            <a:picLocks noChangeAspect="1"/>
          </p:cNvPicPr>
          <p:nvPr/>
        </p:nvPicPr>
        <p:blipFill>
          <a:blip r:embed="rId4"/>
          <a:srcRect t="-1" b="-5555"/>
          <a:stretch>
            <a:fillRect/>
          </a:stretch>
        </p:blipFill>
        <p:spPr>
          <a:xfrm>
            <a:off x="7014772" y="4563971"/>
            <a:ext cx="2166015" cy="1505973"/>
          </a:xfrm>
          <a:prstGeom prst="rect">
            <a:avLst/>
          </a:prstGeom>
        </p:spPr>
      </p:pic>
      <p:pic>
        <p:nvPicPr>
          <p:cNvPr id="20" name="Picture 19" descr="A screenshot of a computer&#10;&#10;AI-generated content may be incorrect.">
            <a:extLst>
              <a:ext uri="{FF2B5EF4-FFF2-40B4-BE49-F238E27FC236}">
                <a16:creationId xmlns:a16="http://schemas.microsoft.com/office/drawing/2014/main" id="{C0FF5BBF-221B-BCE1-8CCB-CFCE879D1E92}"/>
              </a:ext>
            </a:extLst>
          </p:cNvPr>
          <p:cNvPicPr>
            <a:picLocks noChangeAspect="1"/>
          </p:cNvPicPr>
          <p:nvPr/>
        </p:nvPicPr>
        <p:blipFill>
          <a:blip r:embed="rId5"/>
          <a:stretch>
            <a:fillRect/>
          </a:stretch>
        </p:blipFill>
        <p:spPr>
          <a:xfrm>
            <a:off x="9135672" y="4595337"/>
            <a:ext cx="2718251" cy="1474607"/>
          </a:xfrm>
          <a:prstGeom prst="rect">
            <a:avLst/>
          </a:prstGeom>
        </p:spPr>
      </p:pic>
    </p:spTree>
    <p:extLst>
      <p:ext uri="{BB962C8B-B14F-4D97-AF65-F5344CB8AC3E}">
        <p14:creationId xmlns:p14="http://schemas.microsoft.com/office/powerpoint/2010/main" val="3025817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4A4263A-D5E5-40C4-733F-60F4F2E94DEA}"/>
              </a:ext>
            </a:extLst>
          </p:cNvPr>
          <p:cNvSpPr txBox="1"/>
          <p:nvPr/>
        </p:nvSpPr>
        <p:spPr>
          <a:xfrm>
            <a:off x="765695" y="1523015"/>
            <a:ext cx="4438071" cy="3948946"/>
          </a:xfrm>
          <a:prstGeom prst="rect">
            <a:avLst/>
          </a:prstGeom>
          <a:solidFill>
            <a:schemeClr val="bg1"/>
          </a:solidFill>
        </p:spPr>
        <p:txBody>
          <a:bodyPr wrap="square" rtlCol="0">
            <a:spAutoFit/>
          </a:bodyPr>
          <a:lstStyle/>
          <a:p>
            <a:endParaRPr lang="en-US" dirty="0"/>
          </a:p>
        </p:txBody>
      </p:sp>
      <p:sp>
        <p:nvSpPr>
          <p:cNvPr id="2" name="Title 1">
            <a:extLst>
              <a:ext uri="{FF2B5EF4-FFF2-40B4-BE49-F238E27FC236}">
                <a16:creationId xmlns:a16="http://schemas.microsoft.com/office/drawing/2014/main" id="{9233F63A-6CAF-CA33-DD5C-D13CE2BBA614}"/>
              </a:ext>
            </a:extLst>
          </p:cNvPr>
          <p:cNvSpPr>
            <a:spLocks noGrp="1"/>
          </p:cNvSpPr>
          <p:nvPr>
            <p:ph type="title"/>
          </p:nvPr>
        </p:nvSpPr>
        <p:spPr>
          <a:xfrm>
            <a:off x="3249444" y="156407"/>
            <a:ext cx="4581144" cy="807869"/>
          </a:xfrm>
        </p:spPr>
        <p:txBody>
          <a:bodyPr>
            <a:normAutofit fontScale="90000"/>
          </a:bodyPr>
          <a:lstStyle/>
          <a:p>
            <a:r>
              <a:rPr lang="en-US" dirty="0">
                <a:solidFill>
                  <a:schemeClr val="tx1"/>
                </a:solidFill>
              </a:rPr>
              <a:t>Results Summary </a:t>
            </a:r>
          </a:p>
        </p:txBody>
      </p:sp>
      <p:pic>
        <p:nvPicPr>
          <p:cNvPr id="7" name="Picture 6">
            <a:extLst>
              <a:ext uri="{FF2B5EF4-FFF2-40B4-BE49-F238E27FC236}">
                <a16:creationId xmlns:a16="http://schemas.microsoft.com/office/drawing/2014/main" id="{DB42CC00-E8EA-1E4E-6CEA-BC99493623E2}"/>
              </a:ext>
            </a:extLst>
          </p:cNvPr>
          <p:cNvPicPr>
            <a:picLocks noChangeAspect="1"/>
          </p:cNvPicPr>
          <p:nvPr/>
        </p:nvPicPr>
        <p:blipFill>
          <a:blip r:embed="rId3"/>
          <a:stretch>
            <a:fillRect/>
          </a:stretch>
        </p:blipFill>
        <p:spPr>
          <a:xfrm>
            <a:off x="56691" y="653133"/>
            <a:ext cx="4120342" cy="4120342"/>
          </a:xfrm>
          <a:prstGeom prst="rect">
            <a:avLst/>
          </a:prstGeom>
        </p:spPr>
      </p:pic>
      <p:pic>
        <p:nvPicPr>
          <p:cNvPr id="9" name="Picture 8">
            <a:extLst>
              <a:ext uri="{FF2B5EF4-FFF2-40B4-BE49-F238E27FC236}">
                <a16:creationId xmlns:a16="http://schemas.microsoft.com/office/drawing/2014/main" id="{FF5B390C-4439-EC5B-E4DA-275B860207F6}"/>
              </a:ext>
            </a:extLst>
          </p:cNvPr>
          <p:cNvPicPr>
            <a:picLocks noChangeAspect="1"/>
          </p:cNvPicPr>
          <p:nvPr/>
        </p:nvPicPr>
        <p:blipFill>
          <a:blip r:embed="rId4"/>
          <a:srcRect t="7591" b="8470"/>
          <a:stretch>
            <a:fillRect/>
          </a:stretch>
        </p:blipFill>
        <p:spPr>
          <a:xfrm>
            <a:off x="4033894" y="2017259"/>
            <a:ext cx="4908665" cy="4120342"/>
          </a:xfrm>
          <a:prstGeom prst="rect">
            <a:avLst/>
          </a:prstGeom>
        </p:spPr>
      </p:pic>
      <p:pic>
        <p:nvPicPr>
          <p:cNvPr id="14" name="Picture 13">
            <a:extLst>
              <a:ext uri="{FF2B5EF4-FFF2-40B4-BE49-F238E27FC236}">
                <a16:creationId xmlns:a16="http://schemas.microsoft.com/office/drawing/2014/main" id="{40E5093B-464D-C0AD-1A68-DD118F693AEB}"/>
              </a:ext>
            </a:extLst>
          </p:cNvPr>
          <p:cNvPicPr>
            <a:picLocks noChangeAspect="1"/>
          </p:cNvPicPr>
          <p:nvPr/>
        </p:nvPicPr>
        <p:blipFill>
          <a:blip r:embed="rId5"/>
          <a:srcRect t="-1290" r="9545" b="9645"/>
          <a:stretch>
            <a:fillRect/>
          </a:stretch>
        </p:blipFill>
        <p:spPr>
          <a:xfrm>
            <a:off x="8273928" y="156407"/>
            <a:ext cx="3861381" cy="3912269"/>
          </a:xfrm>
          <a:prstGeom prst="rect">
            <a:avLst/>
          </a:prstGeom>
        </p:spPr>
      </p:pic>
      <p:sp>
        <p:nvSpPr>
          <p:cNvPr id="15" name="TextBox 14">
            <a:extLst>
              <a:ext uri="{FF2B5EF4-FFF2-40B4-BE49-F238E27FC236}">
                <a16:creationId xmlns:a16="http://schemas.microsoft.com/office/drawing/2014/main" id="{7423FFA1-3292-DB83-B226-4072F2D128FB}"/>
              </a:ext>
            </a:extLst>
          </p:cNvPr>
          <p:cNvSpPr txBox="1"/>
          <p:nvPr/>
        </p:nvSpPr>
        <p:spPr>
          <a:xfrm>
            <a:off x="393672" y="4904693"/>
            <a:ext cx="2855771"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GR: Strong Differential binding, including FKKBP5.</a:t>
            </a:r>
          </a:p>
        </p:txBody>
      </p:sp>
      <p:sp>
        <p:nvSpPr>
          <p:cNvPr id="16" name="TextBox 15">
            <a:extLst>
              <a:ext uri="{FF2B5EF4-FFF2-40B4-BE49-F238E27FC236}">
                <a16:creationId xmlns:a16="http://schemas.microsoft.com/office/drawing/2014/main" id="{7D40A1F4-CC2D-F5A1-B340-F16AD263B96D}"/>
              </a:ext>
            </a:extLst>
          </p:cNvPr>
          <p:cNvSpPr txBox="1"/>
          <p:nvPr/>
        </p:nvSpPr>
        <p:spPr>
          <a:xfrm>
            <a:off x="4619502" y="6137601"/>
            <a:ext cx="3464410"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MR: Moderate Separation of conditions</a:t>
            </a:r>
          </a:p>
        </p:txBody>
      </p:sp>
      <p:sp>
        <p:nvSpPr>
          <p:cNvPr id="17" name="TextBox 16">
            <a:extLst>
              <a:ext uri="{FF2B5EF4-FFF2-40B4-BE49-F238E27FC236}">
                <a16:creationId xmlns:a16="http://schemas.microsoft.com/office/drawing/2014/main" id="{E668A4A4-18DC-C2E6-9F8D-23BB6BE0DFBD}"/>
              </a:ext>
            </a:extLst>
          </p:cNvPr>
          <p:cNvSpPr txBox="1"/>
          <p:nvPr/>
        </p:nvSpPr>
        <p:spPr>
          <a:xfrm>
            <a:off x="6588384" y="2017259"/>
            <a:ext cx="423514" cy="276999"/>
          </a:xfrm>
          <a:prstGeom prst="rect">
            <a:avLst/>
          </a:prstGeom>
          <a:solidFill>
            <a:schemeClr val="bg1"/>
          </a:solidFill>
        </p:spPr>
        <p:txBody>
          <a:bodyPr wrap="none" rtlCol="0">
            <a:spAutoFit/>
          </a:bodyPr>
          <a:lstStyle/>
          <a:p>
            <a:r>
              <a:rPr lang="en-US" sz="1200" dirty="0">
                <a:latin typeface="Times New Roman" panose="02020603050405020304" pitchFamily="18" charset="0"/>
                <a:cs typeface="Times New Roman" panose="02020603050405020304" pitchFamily="18" charset="0"/>
              </a:rPr>
              <a:t>MR</a:t>
            </a:r>
            <a:endParaRPr lang="en-US" sz="1200" dirty="0"/>
          </a:p>
        </p:txBody>
      </p:sp>
      <p:sp>
        <p:nvSpPr>
          <p:cNvPr id="18" name="TextBox 17">
            <a:extLst>
              <a:ext uri="{FF2B5EF4-FFF2-40B4-BE49-F238E27FC236}">
                <a16:creationId xmlns:a16="http://schemas.microsoft.com/office/drawing/2014/main" id="{78918E02-95F2-52C3-78E7-6A959FC49CBB}"/>
              </a:ext>
            </a:extLst>
          </p:cNvPr>
          <p:cNvSpPr txBox="1"/>
          <p:nvPr/>
        </p:nvSpPr>
        <p:spPr>
          <a:xfrm>
            <a:off x="9630889" y="4188700"/>
            <a:ext cx="2278790" cy="584775"/>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S10: </a:t>
            </a:r>
            <a:r>
              <a:rPr lang="en-GB" sz="1600" dirty="0">
                <a:latin typeface="Times New Roman" panose="02020603050405020304" pitchFamily="18" charset="0"/>
                <a:cs typeface="Times New Roman" panose="02020603050405020304" pitchFamily="18" charset="0"/>
              </a:rPr>
              <a:t>heatmap shows slight clustering</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481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2BA155D-1258-BCDF-CE50-2BCA3907D615}"/>
              </a:ext>
            </a:extLst>
          </p:cNvPr>
          <p:cNvSpPr/>
          <p:nvPr/>
        </p:nvSpPr>
        <p:spPr>
          <a:xfrm>
            <a:off x="339605" y="1611838"/>
            <a:ext cx="4277887" cy="37650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4ED84DD-680F-FBFB-A13D-1957FB6DA727}"/>
              </a:ext>
            </a:extLst>
          </p:cNvPr>
          <p:cNvSpPr>
            <a:spLocks noGrp="1"/>
          </p:cNvSpPr>
          <p:nvPr>
            <p:ph type="title"/>
          </p:nvPr>
        </p:nvSpPr>
        <p:spPr>
          <a:xfrm>
            <a:off x="1266825" y="4885322"/>
            <a:ext cx="2697108" cy="491557"/>
          </a:xfrm>
        </p:spPr>
        <p:txBody>
          <a:bodyPr>
            <a:noAutofit/>
          </a:bodyPr>
          <a:lstStyle/>
          <a:p>
            <a:r>
              <a:rPr lang="en-GB" sz="1800" b="1" dirty="0">
                <a:solidFill>
                  <a:schemeClr val="accent1"/>
                </a:solidFill>
                <a:cs typeface="Times New Roman" panose="02020603050405020304" pitchFamily="18" charset="0"/>
              </a:rPr>
              <a:t>BLAM</a:t>
            </a:r>
            <a:br>
              <a:rPr lang="en-GB" sz="2800" b="1" dirty="0">
                <a:solidFill>
                  <a:schemeClr val="accent1"/>
                </a:solidFill>
                <a:latin typeface="+mn-lt"/>
                <a:cs typeface="Times New Roman" panose="02020603050405020304" pitchFamily="18" charset="0"/>
              </a:rPr>
            </a:br>
            <a:endParaRPr lang="en-US" sz="2800" b="1" dirty="0">
              <a:solidFill>
                <a:schemeClr val="accent1"/>
              </a:solidFill>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9FCD160B-ED33-8B0A-508C-03CB88B153AD}"/>
              </a:ext>
            </a:extLst>
          </p:cNvPr>
          <p:cNvSpPr>
            <a:spLocks noGrp="1"/>
          </p:cNvSpPr>
          <p:nvPr>
            <p:ph idx="1"/>
          </p:nvPr>
        </p:nvSpPr>
        <p:spPr>
          <a:xfrm>
            <a:off x="3232878" y="5412116"/>
            <a:ext cx="5726243" cy="1293484"/>
          </a:xfrm>
        </p:spPr>
        <p:txBody>
          <a:bodyPr>
            <a:normAutofit fontScale="85000" lnSpcReduction="10000"/>
          </a:bodyPr>
          <a:lstStyle/>
          <a:p>
            <a:r>
              <a:rPr lang="en-GB" dirty="0">
                <a:latin typeface="Times New Roman" panose="02020603050405020304" pitchFamily="18" charset="0"/>
                <a:cs typeface="Times New Roman" panose="02020603050405020304" pitchFamily="18" charset="0"/>
              </a:rPr>
              <a:t>Very limited overlap at </a:t>
            </a:r>
            <a:r>
              <a:rPr lang="en-GB" b="1" dirty="0">
                <a:latin typeface="Times New Roman" panose="02020603050405020304" pitchFamily="18" charset="0"/>
                <a:cs typeface="Times New Roman" panose="02020603050405020304" pitchFamily="18" charset="0"/>
              </a:rPr>
              <a:t>BLAM</a:t>
            </a:r>
            <a:r>
              <a:rPr lang="en-GB" dirty="0">
                <a:latin typeface="Times New Roman" panose="02020603050405020304" pitchFamily="18" charset="0"/>
                <a:cs typeface="Times New Roman" panose="02020603050405020304" pitchFamily="18" charset="0"/>
              </a:rPr>
              <a:t> → reflects low receptor activity</a:t>
            </a:r>
          </a:p>
          <a:p>
            <a:r>
              <a:rPr lang="en-GB" dirty="0">
                <a:latin typeface="Times New Roman" panose="02020603050405020304" pitchFamily="18" charset="0"/>
                <a:cs typeface="Times New Roman" panose="02020603050405020304" pitchFamily="18" charset="0"/>
              </a:rPr>
              <a:t>Highest triple overlap at </a:t>
            </a:r>
            <a:r>
              <a:rPr lang="en-GB" b="1" dirty="0">
                <a:latin typeface="Times New Roman" panose="02020603050405020304" pitchFamily="18" charset="0"/>
                <a:cs typeface="Times New Roman" panose="02020603050405020304" pitchFamily="18" charset="0"/>
              </a:rPr>
              <a:t>FS</a:t>
            </a:r>
            <a:r>
              <a:rPr lang="en-GB" dirty="0">
                <a:latin typeface="Times New Roman" panose="02020603050405020304" pitchFamily="18" charset="0"/>
                <a:cs typeface="Times New Roman" panose="02020603050405020304" pitchFamily="18" charset="0"/>
              </a:rPr>
              <a:t> → strong, coordinated stress response</a:t>
            </a:r>
          </a:p>
          <a:p>
            <a:r>
              <a:rPr lang="en-GB" dirty="0">
                <a:latin typeface="Times New Roman" panose="02020603050405020304" pitchFamily="18" charset="0"/>
                <a:cs typeface="Times New Roman" panose="02020603050405020304" pitchFamily="18" charset="0"/>
              </a:rPr>
              <a:t>Moderate overlap at </a:t>
            </a:r>
            <a:r>
              <a:rPr lang="en-GB" b="1" dirty="0">
                <a:latin typeface="Times New Roman" panose="02020603050405020304" pitchFamily="18" charset="0"/>
                <a:cs typeface="Times New Roman" panose="02020603050405020304" pitchFamily="18" charset="0"/>
              </a:rPr>
              <a:t>BLPM</a:t>
            </a:r>
            <a:r>
              <a:rPr lang="en-GB" dirty="0">
                <a:latin typeface="Times New Roman" panose="02020603050405020304" pitchFamily="18" charset="0"/>
                <a:cs typeface="Times New Roman" panose="02020603050405020304" pitchFamily="18" charset="0"/>
              </a:rPr>
              <a:t> → possible circadian regulation</a:t>
            </a:r>
          </a:p>
        </p:txBody>
      </p:sp>
      <p:pic>
        <p:nvPicPr>
          <p:cNvPr id="11" name="Picture 10">
            <a:extLst>
              <a:ext uri="{FF2B5EF4-FFF2-40B4-BE49-F238E27FC236}">
                <a16:creationId xmlns:a16="http://schemas.microsoft.com/office/drawing/2014/main" id="{704A1C67-7FA1-815F-FCF4-81D442BDED54}"/>
              </a:ext>
            </a:extLst>
          </p:cNvPr>
          <p:cNvPicPr>
            <a:picLocks noChangeAspect="1"/>
          </p:cNvPicPr>
          <p:nvPr/>
        </p:nvPicPr>
        <p:blipFill>
          <a:blip r:embed="rId3"/>
          <a:stretch>
            <a:fillRect/>
          </a:stretch>
        </p:blipFill>
        <p:spPr>
          <a:xfrm>
            <a:off x="851010" y="1320825"/>
            <a:ext cx="3496687" cy="3496687"/>
          </a:xfrm>
          <a:prstGeom prst="rect">
            <a:avLst/>
          </a:prstGeom>
        </p:spPr>
      </p:pic>
      <p:sp>
        <p:nvSpPr>
          <p:cNvPr id="12" name="Title 1">
            <a:extLst>
              <a:ext uri="{FF2B5EF4-FFF2-40B4-BE49-F238E27FC236}">
                <a16:creationId xmlns:a16="http://schemas.microsoft.com/office/drawing/2014/main" id="{A4138398-993F-0AF4-ACF1-88230561F2C1}"/>
              </a:ext>
            </a:extLst>
          </p:cNvPr>
          <p:cNvSpPr txBox="1">
            <a:spLocks/>
          </p:cNvSpPr>
          <p:nvPr/>
        </p:nvSpPr>
        <p:spPr>
          <a:xfrm>
            <a:off x="1266825" y="152400"/>
            <a:ext cx="9884739" cy="1820279"/>
          </a:xfrm>
          <a:prstGeom prst="rect">
            <a:avLst/>
          </a:prstGeom>
        </p:spPr>
        <p:txBody>
          <a:bodyPr vert="horz" lIns="228600" tIns="228600" rIns="228600" bIns="228600" rtlCol="0" anchor="ctr">
            <a:normAutofit fontScale="97500"/>
          </a:bodyPr>
          <a:lstStyle>
            <a:lvl1pPr algn="ctr" defTabSz="914400" rtl="0" eaLnBrk="1" latinLnBrk="0" hangingPunct="1">
              <a:lnSpc>
                <a:spcPct val="85000"/>
              </a:lnSpc>
              <a:spcBef>
                <a:spcPct val="0"/>
              </a:spcBef>
              <a:buNone/>
              <a:defRPr sz="4000" b="0" i="0" kern="1200" cap="none" spc="-150">
                <a:solidFill>
                  <a:srgbClr val="FFFEFF"/>
                </a:solidFill>
                <a:effectLst/>
                <a:latin typeface="+mj-lt"/>
                <a:ea typeface="+mj-ea"/>
                <a:cs typeface="+mj-cs"/>
              </a:defRPr>
            </a:lvl1pPr>
          </a:lstStyle>
          <a:p>
            <a:r>
              <a:rPr lang="en-GB" sz="3300" b="1" dirty="0">
                <a:solidFill>
                  <a:schemeClr val="accent1"/>
                </a:solidFill>
              </a:rPr>
              <a:t>Venn Diagram Analysis: Shared Binding Across Conditions</a:t>
            </a:r>
            <a:br>
              <a:rPr lang="en-GB" dirty="0">
                <a:solidFill>
                  <a:schemeClr val="accent1"/>
                </a:solidFill>
              </a:rPr>
            </a:br>
            <a:endParaRPr lang="en-US" dirty="0">
              <a:solidFill>
                <a:schemeClr val="accent1"/>
              </a:solidFill>
            </a:endParaRPr>
          </a:p>
        </p:txBody>
      </p:sp>
      <p:pic>
        <p:nvPicPr>
          <p:cNvPr id="15" name="Picture 14" descr="A diagram of a number&#10;&#10;AI-generated content may be incorrect.">
            <a:extLst>
              <a:ext uri="{FF2B5EF4-FFF2-40B4-BE49-F238E27FC236}">
                <a16:creationId xmlns:a16="http://schemas.microsoft.com/office/drawing/2014/main" id="{2A8DAF2D-5D17-A652-8980-1804CC351AE3}"/>
              </a:ext>
            </a:extLst>
          </p:cNvPr>
          <p:cNvPicPr>
            <a:picLocks noChangeAspect="1"/>
          </p:cNvPicPr>
          <p:nvPr/>
        </p:nvPicPr>
        <p:blipFill>
          <a:blip r:embed="rId4"/>
          <a:stretch>
            <a:fillRect/>
          </a:stretch>
        </p:blipFill>
        <p:spPr>
          <a:xfrm>
            <a:off x="4568941" y="1283716"/>
            <a:ext cx="3572660" cy="3572660"/>
          </a:xfrm>
          <a:prstGeom prst="rect">
            <a:avLst/>
          </a:prstGeom>
        </p:spPr>
      </p:pic>
      <p:sp>
        <p:nvSpPr>
          <p:cNvPr id="18" name="TextBox 17">
            <a:extLst>
              <a:ext uri="{FF2B5EF4-FFF2-40B4-BE49-F238E27FC236}">
                <a16:creationId xmlns:a16="http://schemas.microsoft.com/office/drawing/2014/main" id="{BF7E605F-718F-2D95-8A71-0F2E6653EAB0}"/>
              </a:ext>
            </a:extLst>
          </p:cNvPr>
          <p:cNvSpPr txBox="1"/>
          <p:nvPr/>
        </p:nvSpPr>
        <p:spPr>
          <a:xfrm>
            <a:off x="5922600" y="4791349"/>
            <a:ext cx="1019695" cy="369332"/>
          </a:xfrm>
          <a:prstGeom prst="rect">
            <a:avLst/>
          </a:prstGeom>
          <a:noFill/>
        </p:spPr>
        <p:txBody>
          <a:bodyPr wrap="square">
            <a:spAutoFit/>
          </a:bodyPr>
          <a:lstStyle/>
          <a:p>
            <a:r>
              <a:rPr lang="en-GB" sz="1800" b="1" dirty="0">
                <a:solidFill>
                  <a:schemeClr val="accent1"/>
                </a:solidFill>
                <a:latin typeface="+mj-lt"/>
              </a:rPr>
              <a:t>BLPM</a:t>
            </a:r>
            <a:r>
              <a:rPr lang="en-GB" sz="1800" b="1" dirty="0">
                <a:solidFill>
                  <a:schemeClr val="accent1"/>
                </a:solidFill>
              </a:rPr>
              <a:t> </a:t>
            </a:r>
            <a:endParaRPr lang="en-US" dirty="0"/>
          </a:p>
        </p:txBody>
      </p:sp>
      <p:pic>
        <p:nvPicPr>
          <p:cNvPr id="20" name="Picture 19">
            <a:extLst>
              <a:ext uri="{FF2B5EF4-FFF2-40B4-BE49-F238E27FC236}">
                <a16:creationId xmlns:a16="http://schemas.microsoft.com/office/drawing/2014/main" id="{E53B795F-F70F-83FC-6B20-143EB2FA6EBE}"/>
              </a:ext>
            </a:extLst>
          </p:cNvPr>
          <p:cNvPicPr>
            <a:picLocks noChangeAspect="1"/>
          </p:cNvPicPr>
          <p:nvPr/>
        </p:nvPicPr>
        <p:blipFill>
          <a:blip r:embed="rId5"/>
          <a:stretch>
            <a:fillRect/>
          </a:stretch>
        </p:blipFill>
        <p:spPr>
          <a:xfrm>
            <a:off x="8362845" y="1320825"/>
            <a:ext cx="3489550" cy="3489550"/>
          </a:xfrm>
          <a:prstGeom prst="rect">
            <a:avLst/>
          </a:prstGeom>
        </p:spPr>
      </p:pic>
      <p:sp>
        <p:nvSpPr>
          <p:cNvPr id="22" name="TextBox 21">
            <a:extLst>
              <a:ext uri="{FF2B5EF4-FFF2-40B4-BE49-F238E27FC236}">
                <a16:creationId xmlns:a16="http://schemas.microsoft.com/office/drawing/2014/main" id="{D95A4DE7-0E73-AC2B-47F2-960077DD140F}"/>
              </a:ext>
            </a:extLst>
          </p:cNvPr>
          <p:cNvSpPr txBox="1"/>
          <p:nvPr/>
        </p:nvSpPr>
        <p:spPr>
          <a:xfrm>
            <a:off x="9943850" y="4856376"/>
            <a:ext cx="634525" cy="369332"/>
          </a:xfrm>
          <a:prstGeom prst="rect">
            <a:avLst/>
          </a:prstGeom>
          <a:noFill/>
        </p:spPr>
        <p:txBody>
          <a:bodyPr wrap="square">
            <a:spAutoFit/>
          </a:bodyPr>
          <a:lstStyle/>
          <a:p>
            <a:r>
              <a:rPr lang="en-GB" b="1" dirty="0">
                <a:solidFill>
                  <a:schemeClr val="accent1"/>
                </a:solidFill>
                <a:latin typeface="+mj-lt"/>
              </a:rPr>
              <a:t>FS</a:t>
            </a:r>
            <a:endParaRPr lang="en-US" dirty="0">
              <a:latin typeface="+mj-lt"/>
            </a:endParaRPr>
          </a:p>
        </p:txBody>
      </p:sp>
    </p:spTree>
    <p:extLst>
      <p:ext uri="{BB962C8B-B14F-4D97-AF65-F5344CB8AC3E}">
        <p14:creationId xmlns:p14="http://schemas.microsoft.com/office/powerpoint/2010/main" val="2030494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8FA3D-E06F-1094-96C2-383D85AB02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0CA538-9B8B-19F0-4064-0C88C786F35C}"/>
              </a:ext>
            </a:extLst>
          </p:cNvPr>
          <p:cNvSpPr>
            <a:spLocks noGrp="1"/>
          </p:cNvSpPr>
          <p:nvPr>
            <p:ph idx="1"/>
          </p:nvPr>
        </p:nvSpPr>
        <p:spPr>
          <a:xfrm>
            <a:off x="6932767" y="953835"/>
            <a:ext cx="4724087" cy="5248622"/>
          </a:xfrm>
        </p:spPr>
        <p:txBody>
          <a:bodyPr>
            <a:normAutofit/>
          </a:bodyPr>
          <a:lstStyle/>
          <a:p>
            <a:pPr marL="0" indent="0">
              <a:buNone/>
            </a:pPr>
            <a:r>
              <a:rPr lang="en-GB" b="1" dirty="0">
                <a:latin typeface="+mj-lt"/>
              </a:rPr>
              <a:t>Key Insight </a:t>
            </a:r>
          </a:p>
          <a:p>
            <a:r>
              <a:rPr lang="en-GB" dirty="0">
                <a:latin typeface="+mj-lt"/>
              </a:rPr>
              <a:t>GR shows clear stress-driven binding at FS (186 peaks)</a:t>
            </a:r>
          </a:p>
          <a:p>
            <a:r>
              <a:rPr lang="en-GB" dirty="0">
                <a:latin typeface="+mj-lt"/>
              </a:rPr>
              <a:t>MR binding stronger at BLPM, supporting circadian regulation</a:t>
            </a:r>
          </a:p>
          <a:p>
            <a:r>
              <a:rPr lang="en-GB" dirty="0">
                <a:latin typeface="+mj-lt"/>
              </a:rPr>
              <a:t>S10 stable overall, but overlaps GR at FKBP5 in FS</a:t>
            </a:r>
          </a:p>
          <a:p>
            <a:r>
              <a:rPr lang="en-GB" dirty="0">
                <a:latin typeface="+mj-lt"/>
              </a:rPr>
              <a:t>FS-specific overlap (103 GR–MR–S10 peaks) reflects coordinated stress response</a:t>
            </a:r>
          </a:p>
          <a:p>
            <a:r>
              <a:rPr lang="en-GB" dirty="0">
                <a:latin typeface="+mj-lt"/>
              </a:rPr>
              <a:t>Suggests receptor access is guided by chromatin priming at stress loci</a:t>
            </a:r>
          </a:p>
          <a:p>
            <a:endParaRPr lang="en-US" dirty="0"/>
          </a:p>
        </p:txBody>
      </p:sp>
      <p:sp>
        <p:nvSpPr>
          <p:cNvPr id="6" name="TextBox 5">
            <a:extLst>
              <a:ext uri="{FF2B5EF4-FFF2-40B4-BE49-F238E27FC236}">
                <a16:creationId xmlns:a16="http://schemas.microsoft.com/office/drawing/2014/main" id="{0862F57F-D265-3BC1-316F-BF5211B1E6DC}"/>
              </a:ext>
            </a:extLst>
          </p:cNvPr>
          <p:cNvSpPr txBox="1"/>
          <p:nvPr/>
        </p:nvSpPr>
        <p:spPr>
          <a:xfrm>
            <a:off x="535146" y="494760"/>
            <a:ext cx="4861313" cy="584775"/>
          </a:xfrm>
          <a:prstGeom prst="rect">
            <a:avLst/>
          </a:prstGeom>
          <a:noFill/>
        </p:spPr>
        <p:txBody>
          <a:bodyPr wrap="square">
            <a:spAutoFit/>
          </a:bodyPr>
          <a:lstStyle/>
          <a:p>
            <a:pPr marL="0" indent="0">
              <a:buNone/>
            </a:pPr>
            <a:r>
              <a:rPr lang="en-GB" sz="3200" b="1" dirty="0">
                <a:solidFill>
                  <a:schemeClr val="accent1"/>
                </a:solidFill>
                <a:latin typeface="+mj-lt"/>
              </a:rPr>
              <a:t>Interpretation &amp; Reflection</a:t>
            </a:r>
          </a:p>
        </p:txBody>
      </p:sp>
      <p:graphicFrame>
        <p:nvGraphicFramePr>
          <p:cNvPr id="7" name="Table 6">
            <a:extLst>
              <a:ext uri="{FF2B5EF4-FFF2-40B4-BE49-F238E27FC236}">
                <a16:creationId xmlns:a16="http://schemas.microsoft.com/office/drawing/2014/main" id="{6F3B0AC7-37B3-D1AB-0555-D7DB7752616E}"/>
              </a:ext>
            </a:extLst>
          </p:cNvPr>
          <p:cNvGraphicFramePr>
            <a:graphicFrameLocks noGrp="1"/>
          </p:cNvGraphicFramePr>
          <p:nvPr>
            <p:extLst>
              <p:ext uri="{D42A27DB-BD31-4B8C-83A1-F6EECF244321}">
                <p14:modId xmlns:p14="http://schemas.microsoft.com/office/powerpoint/2010/main" val="3150224447"/>
              </p:ext>
            </p:extLst>
          </p:nvPr>
        </p:nvGraphicFramePr>
        <p:xfrm>
          <a:off x="268889" y="1639174"/>
          <a:ext cx="6416724" cy="3959435"/>
        </p:xfrm>
        <a:graphic>
          <a:graphicData uri="http://schemas.openxmlformats.org/drawingml/2006/table">
            <a:tbl>
              <a:tblPr/>
              <a:tblGrid>
                <a:gridCol w="1604181">
                  <a:extLst>
                    <a:ext uri="{9D8B030D-6E8A-4147-A177-3AD203B41FA5}">
                      <a16:colId xmlns:a16="http://schemas.microsoft.com/office/drawing/2014/main" val="3265414061"/>
                    </a:ext>
                  </a:extLst>
                </a:gridCol>
                <a:gridCol w="1604181">
                  <a:extLst>
                    <a:ext uri="{9D8B030D-6E8A-4147-A177-3AD203B41FA5}">
                      <a16:colId xmlns:a16="http://schemas.microsoft.com/office/drawing/2014/main" val="3257182292"/>
                    </a:ext>
                  </a:extLst>
                </a:gridCol>
                <a:gridCol w="1604181">
                  <a:extLst>
                    <a:ext uri="{9D8B030D-6E8A-4147-A177-3AD203B41FA5}">
                      <a16:colId xmlns:a16="http://schemas.microsoft.com/office/drawing/2014/main" val="1182771609"/>
                    </a:ext>
                  </a:extLst>
                </a:gridCol>
                <a:gridCol w="1604181">
                  <a:extLst>
                    <a:ext uri="{9D8B030D-6E8A-4147-A177-3AD203B41FA5}">
                      <a16:colId xmlns:a16="http://schemas.microsoft.com/office/drawing/2014/main" val="143565680"/>
                    </a:ext>
                  </a:extLst>
                </a:gridCol>
              </a:tblGrid>
              <a:tr h="542412">
                <a:tc>
                  <a:txBody>
                    <a:bodyPr/>
                    <a:lstStyle/>
                    <a:p>
                      <a:pPr>
                        <a:buNone/>
                      </a:pPr>
                      <a:r>
                        <a:rPr lang="en-GB" sz="1600" b="1" dirty="0">
                          <a:solidFill>
                            <a:schemeClr val="bg1"/>
                          </a:solidFill>
                          <a:latin typeface="+mj-lt"/>
                        </a:rPr>
                        <a:t>Metric</a:t>
                      </a:r>
                      <a:endParaRPr lang="en-GB" sz="1600" dirty="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b="1">
                          <a:solidFill>
                            <a:schemeClr val="bg1"/>
                          </a:solidFill>
                          <a:latin typeface="+mj-lt"/>
                        </a:rPr>
                        <a:t>GR</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b="1">
                          <a:solidFill>
                            <a:schemeClr val="bg1"/>
                          </a:solidFill>
                          <a:latin typeface="+mj-lt"/>
                        </a:rPr>
                        <a:t>MR</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b="1">
                          <a:solidFill>
                            <a:schemeClr val="bg1"/>
                          </a:solidFill>
                          <a:latin typeface="+mj-lt"/>
                        </a:rPr>
                        <a:t>H3K9acS10p (S10)</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389675136"/>
                  </a:ext>
                </a:extLst>
              </a:tr>
              <a:tr h="830075">
                <a:tc>
                  <a:txBody>
                    <a:bodyPr/>
                    <a:lstStyle/>
                    <a:p>
                      <a:pPr>
                        <a:buNone/>
                      </a:pPr>
                      <a:r>
                        <a:rPr lang="en-GB" sz="1600" b="1" dirty="0">
                          <a:solidFill>
                            <a:schemeClr val="bg1"/>
                          </a:solidFill>
                          <a:latin typeface="+mj-lt"/>
                        </a:rPr>
                        <a:t>Volcano plot peaks (FDR &lt; 0.05)</a:t>
                      </a:r>
                      <a:endParaRPr lang="en-GB" sz="1600" dirty="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186</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11</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a:solidFill>
                            <a:schemeClr val="bg1"/>
                          </a:solidFill>
                          <a:latin typeface="+mj-lt"/>
                        </a:rPr>
                        <a:t>9</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656844142"/>
                  </a:ext>
                </a:extLst>
              </a:tr>
              <a:tr h="446963">
                <a:tc>
                  <a:txBody>
                    <a:bodyPr/>
                    <a:lstStyle/>
                    <a:p>
                      <a:pPr>
                        <a:buNone/>
                      </a:pPr>
                      <a:r>
                        <a:rPr lang="en-GB" sz="1600" b="1">
                          <a:solidFill>
                            <a:schemeClr val="bg1"/>
                          </a:solidFill>
                          <a:latin typeface="+mj-lt"/>
                        </a:rPr>
                        <a:t>PCA separation</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Strong</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Moderate</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a:solidFill>
                            <a:schemeClr val="bg1"/>
                          </a:solidFill>
                          <a:latin typeface="+mj-lt"/>
                        </a:rPr>
                        <a:t>Weak</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771605248"/>
                  </a:ext>
                </a:extLst>
              </a:tr>
              <a:tr h="446963">
                <a:tc>
                  <a:txBody>
                    <a:bodyPr/>
                    <a:lstStyle/>
                    <a:p>
                      <a:pPr>
                        <a:buNone/>
                      </a:pPr>
                      <a:r>
                        <a:rPr lang="en-GB" sz="1600" b="1">
                          <a:solidFill>
                            <a:schemeClr val="bg1"/>
                          </a:solidFill>
                          <a:latin typeface="+mj-lt"/>
                        </a:rPr>
                        <a:t>FKBP5 present</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Yes</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No</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Yes</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530711631"/>
                  </a:ext>
                </a:extLst>
              </a:tr>
              <a:tr h="1021631">
                <a:tc>
                  <a:txBody>
                    <a:bodyPr/>
                    <a:lstStyle/>
                    <a:p>
                      <a:pPr>
                        <a:buNone/>
                      </a:pPr>
                      <a:r>
                        <a:rPr lang="en-GB" sz="1600" b="1">
                          <a:solidFill>
                            <a:schemeClr val="bg1"/>
                          </a:solidFill>
                          <a:latin typeface="+mj-lt"/>
                        </a:rPr>
                        <a:t>Reuleaux triangle overlap (GR+MR+S10)</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a:solidFill>
                            <a:schemeClr val="bg1"/>
                          </a:solidFill>
                          <a:latin typeface="+mj-lt"/>
                        </a:rPr>
                        <a:t>103</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103</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103</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2498502722"/>
                  </a:ext>
                </a:extLst>
              </a:tr>
              <a:tr h="638519">
                <a:tc>
                  <a:txBody>
                    <a:bodyPr/>
                    <a:lstStyle/>
                    <a:p>
                      <a:pPr>
                        <a:buNone/>
                      </a:pPr>
                      <a:r>
                        <a:rPr lang="en-GB" sz="1600" b="1">
                          <a:solidFill>
                            <a:schemeClr val="bg1"/>
                          </a:solidFill>
                          <a:latin typeface="+mj-lt"/>
                        </a:rPr>
                        <a:t>Biological role</a:t>
                      </a:r>
                      <a:endParaRPr lang="en-GB" sz="1600">
                        <a:solidFill>
                          <a:schemeClr val="bg1"/>
                        </a:solidFill>
                        <a:latin typeface="+mj-lt"/>
                      </a:endParaRP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a:solidFill>
                            <a:schemeClr val="bg1"/>
                          </a:solidFill>
                          <a:latin typeface="+mj-lt"/>
                        </a:rPr>
                        <a:t>Stress-responsive</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a:solidFill>
                            <a:schemeClr val="bg1"/>
                          </a:solidFill>
                          <a:latin typeface="+mj-lt"/>
                        </a:rPr>
                        <a:t>Circadian/stable</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buNone/>
                      </a:pPr>
                      <a:r>
                        <a:rPr lang="en-GB" sz="1600" dirty="0">
                          <a:solidFill>
                            <a:schemeClr val="bg1"/>
                          </a:solidFill>
                          <a:latin typeface="+mj-lt"/>
                        </a:rPr>
                        <a:t>Chromatin accessibility</a:t>
                      </a:r>
                    </a:p>
                  </a:txBody>
                  <a:tcPr marL="87604" marR="87604" marT="43802" marB="438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815386504"/>
                  </a:ext>
                </a:extLst>
              </a:tr>
            </a:tbl>
          </a:graphicData>
        </a:graphic>
      </p:graphicFrame>
    </p:spTree>
    <p:extLst>
      <p:ext uri="{BB962C8B-B14F-4D97-AF65-F5344CB8AC3E}">
        <p14:creationId xmlns:p14="http://schemas.microsoft.com/office/powerpoint/2010/main" val="2090881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4D61-E194-7376-901F-58A27C1AE614}"/>
              </a:ext>
            </a:extLst>
          </p:cNvPr>
          <p:cNvSpPr>
            <a:spLocks noGrp="1"/>
          </p:cNvSpPr>
          <p:nvPr>
            <p:ph type="title"/>
          </p:nvPr>
        </p:nvSpPr>
        <p:spPr/>
        <p:txBody>
          <a:bodyPr/>
          <a:lstStyle/>
          <a:p>
            <a:r>
              <a:rPr lang="en-GB" sz="3600" b="1" dirty="0"/>
              <a:t>Conclusions &amp; Future Work</a:t>
            </a:r>
            <a:br>
              <a:rPr lang="en-GB" dirty="0"/>
            </a:br>
            <a:endParaRPr lang="en-US" dirty="0"/>
          </a:p>
        </p:txBody>
      </p:sp>
      <p:sp>
        <p:nvSpPr>
          <p:cNvPr id="3" name="Content Placeholder 2">
            <a:extLst>
              <a:ext uri="{FF2B5EF4-FFF2-40B4-BE49-F238E27FC236}">
                <a16:creationId xmlns:a16="http://schemas.microsoft.com/office/drawing/2014/main" id="{B2252DC5-0203-E3D1-CDD5-0F001E4D4400}"/>
              </a:ext>
            </a:extLst>
          </p:cNvPr>
          <p:cNvSpPr>
            <a:spLocks noGrp="1"/>
          </p:cNvSpPr>
          <p:nvPr>
            <p:ph idx="1"/>
          </p:nvPr>
        </p:nvSpPr>
        <p:spPr>
          <a:xfrm>
            <a:off x="5021496" y="1466317"/>
            <a:ext cx="6281873" cy="4223657"/>
          </a:xfrm>
        </p:spPr>
        <p:txBody>
          <a:bodyPr>
            <a:normAutofit/>
          </a:bodyPr>
          <a:lstStyle/>
          <a:p>
            <a:r>
              <a:rPr lang="en-GB" dirty="0">
                <a:latin typeface="Times New Roman" panose="02020603050405020304" pitchFamily="18" charset="0"/>
                <a:cs typeface="Times New Roman" panose="02020603050405020304" pitchFamily="18" charset="0"/>
              </a:rPr>
              <a:t>GR shows targeted, stress-induced binding at FS</a:t>
            </a:r>
          </a:p>
          <a:p>
            <a:r>
              <a:rPr lang="en-GB" dirty="0">
                <a:latin typeface="Times New Roman" panose="02020603050405020304" pitchFamily="18" charset="0"/>
                <a:cs typeface="Times New Roman" panose="02020603050405020304" pitchFamily="18" charset="0"/>
              </a:rPr>
              <a:t>MR appears more stable, with stronger signal at BLPM</a:t>
            </a:r>
          </a:p>
          <a:p>
            <a:r>
              <a:rPr lang="en-GB" dirty="0">
                <a:latin typeface="Times New Roman" panose="02020603050405020304" pitchFamily="18" charset="0"/>
                <a:cs typeface="Times New Roman" panose="02020603050405020304" pitchFamily="18" charset="0"/>
              </a:rPr>
              <a:t>S10 overlaps GR at key loci, suggesting chromatin priming</a:t>
            </a:r>
          </a:p>
          <a:p>
            <a:r>
              <a:rPr lang="en-GB" dirty="0">
                <a:latin typeface="Times New Roman" panose="02020603050405020304" pitchFamily="18" charset="0"/>
                <a:cs typeface="Times New Roman" panose="02020603050405020304" pitchFamily="18" charset="0"/>
              </a:rPr>
              <a:t>FKBP5 reflects how receptor binding and accessibility intersect</a:t>
            </a:r>
          </a:p>
          <a:p>
            <a:r>
              <a:rPr lang="en-GB" dirty="0">
                <a:latin typeface="Times New Roman" panose="02020603050405020304" pitchFamily="18" charset="0"/>
                <a:cs typeface="Times New Roman" panose="02020603050405020304" pitchFamily="18" charset="0"/>
              </a:rPr>
              <a:t>Reinforces Hans model of stress-modulated receptor action</a:t>
            </a:r>
          </a:p>
          <a:p>
            <a:endParaRPr lang="en-US" dirty="0"/>
          </a:p>
        </p:txBody>
      </p:sp>
    </p:spTree>
    <p:extLst>
      <p:ext uri="{BB962C8B-B14F-4D97-AF65-F5344CB8AC3E}">
        <p14:creationId xmlns:p14="http://schemas.microsoft.com/office/powerpoint/2010/main" val="2427902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4A577-8D96-41D9-77BA-34A599D0747E}"/>
              </a:ext>
            </a:extLst>
          </p:cNvPr>
          <p:cNvSpPr>
            <a:spLocks noGrp="1"/>
          </p:cNvSpPr>
          <p:nvPr>
            <p:ph type="title"/>
          </p:nvPr>
        </p:nvSpPr>
        <p:spPr/>
        <p:txBody>
          <a:bodyPr>
            <a:normAutofit/>
          </a:bodyPr>
          <a:lstStyle/>
          <a:p>
            <a:r>
              <a:rPr lang="en-GB" sz="3600" b="1" dirty="0"/>
              <a:t>Q&amp;A</a:t>
            </a:r>
            <a:endParaRPr lang="en-US" sz="3600" dirty="0"/>
          </a:p>
        </p:txBody>
      </p:sp>
      <p:sp>
        <p:nvSpPr>
          <p:cNvPr id="3" name="Content Placeholder 2">
            <a:extLst>
              <a:ext uri="{FF2B5EF4-FFF2-40B4-BE49-F238E27FC236}">
                <a16:creationId xmlns:a16="http://schemas.microsoft.com/office/drawing/2014/main" id="{143AD0D8-DEB4-6D84-D944-4712A2480E2E}"/>
              </a:ext>
            </a:extLst>
          </p:cNvPr>
          <p:cNvSpPr>
            <a:spLocks noGrp="1"/>
          </p:cNvSpPr>
          <p:nvPr>
            <p:ph idx="1"/>
          </p:nvPr>
        </p:nvSpPr>
        <p:spPr>
          <a:xfrm>
            <a:off x="4387610" y="282633"/>
            <a:ext cx="7649219" cy="6858000"/>
          </a:xfrm>
        </p:spPr>
        <p:txBody>
          <a:bodyPr>
            <a:normAutofit fontScale="85000" lnSpcReduction="10000"/>
          </a:bodyPr>
          <a:lstStyle/>
          <a:p>
            <a:r>
              <a:rPr lang="en-GB" b="1" dirty="0"/>
              <a:t>Why does FS show stronger GR/MR/chromatin overlap than BLPM?</a:t>
            </a:r>
          </a:p>
          <a:p>
            <a:r>
              <a:rPr lang="en-GB" dirty="0"/>
              <a:t>So FS is a strong stress condition, and that causes a sharp rise in circulating glucocorticoids. That sudden increase activates both GR and MR at the same time, which seems to lead to more coordinated binding across accessible regions.</a:t>
            </a:r>
            <a:br>
              <a:rPr lang="en-GB" dirty="0"/>
            </a:br>
            <a:r>
              <a:rPr lang="en-GB" dirty="0"/>
              <a:t>In my Venn diagrams, this came through as the highest overlap across GR, MR, and S10 under FS.</a:t>
            </a:r>
            <a:br>
              <a:rPr lang="en-GB" dirty="0"/>
            </a:br>
            <a:r>
              <a:rPr lang="en-GB" dirty="0"/>
              <a:t>In contrast, BLPM reflects the normal circadian peak in glucocorticoids, so the activation is more gradual. MR seems to dominate in that condition, and GR is less strongly engaged — so there’s less overlap overall.</a:t>
            </a:r>
            <a:br>
              <a:rPr lang="en-GB" dirty="0"/>
            </a:br>
            <a:r>
              <a:rPr lang="en-GB" dirty="0"/>
              <a:t>Basically, FS triggers a more unified stress response, which probably explains why we see that pattern of increased co-binding.</a:t>
            </a:r>
            <a:endParaRPr lang="en-GB" b="1" dirty="0"/>
          </a:p>
          <a:p>
            <a:r>
              <a:rPr lang="en-GB" b="1" dirty="0"/>
              <a:t>Why do you think most S10 peaks don’t show receptor binding, even though GR and MR often bind at S10-enriched sites?”</a:t>
            </a:r>
          </a:p>
          <a:p>
            <a:r>
              <a:rPr lang="en-GB" dirty="0"/>
              <a:t>That’s a great question — it touches on how chromatin accessibility works in gene regulation. H3K9acS10p is known to mark open, active chromatin, so it sets the stage for binding, but it doesn’t guarantee it.</a:t>
            </a:r>
            <a:br>
              <a:rPr lang="en-GB" dirty="0"/>
            </a:br>
            <a:r>
              <a:rPr lang="en-GB" dirty="0"/>
              <a:t>In my analysis, I found that a lot of GR and MR peaks overlapped with S10, especially under FS — which makes sense. But the reverse wasn’t true: most S10 regions didn’t show any receptor binding.</a:t>
            </a:r>
            <a:br>
              <a:rPr lang="en-GB" dirty="0"/>
            </a:br>
            <a:r>
              <a:rPr lang="en-GB" dirty="0"/>
              <a:t>That suggests S10 acts more like a permissive mark — it shows where the chromatin is accessible, but for binding to actually happen, you still need other things in place — like hormone signalling, the right DNA motifs, or co-factors.</a:t>
            </a:r>
            <a:br>
              <a:rPr lang="en-GB" dirty="0"/>
            </a:br>
            <a:r>
              <a:rPr lang="en-GB" dirty="0"/>
              <a:t>So I’d say S10 helps make binding possible, but it’s not enough on its own to drive receptor recruitment.</a:t>
            </a:r>
          </a:p>
          <a:p>
            <a:endParaRPr lang="en-GB" dirty="0"/>
          </a:p>
          <a:p>
            <a:pPr marL="0" indent="0">
              <a:buNone/>
            </a:pPr>
            <a:endParaRPr lang="en-US" dirty="0"/>
          </a:p>
        </p:txBody>
      </p:sp>
    </p:spTree>
    <p:extLst>
      <p:ext uri="{BB962C8B-B14F-4D97-AF65-F5344CB8AC3E}">
        <p14:creationId xmlns:p14="http://schemas.microsoft.com/office/powerpoint/2010/main" val="4222436281"/>
      </p:ext>
    </p:extLst>
  </p:cSld>
  <p:clrMapOvr>
    <a:masterClrMapping/>
  </p:clrMapOvr>
</p:sld>
</file>

<file path=ppt/theme/theme1.xml><?xml version="1.0" encoding="utf-8"?>
<a:theme xmlns:a="http://schemas.openxmlformats.org/drawingml/2006/main" name="Atla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4418</TotalTime>
  <Words>2011</Words>
  <Application>Microsoft Macintosh PowerPoint</Application>
  <PresentationFormat>Widescreen</PresentationFormat>
  <Paragraphs>132</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 Light</vt:lpstr>
      <vt:lpstr>Rockwell</vt:lpstr>
      <vt:lpstr>Times New Roman</vt:lpstr>
      <vt:lpstr>Wingdings</vt:lpstr>
      <vt:lpstr>Atlas</vt:lpstr>
      <vt:lpstr> Samia Niha MSc Bioinformatics Supervisors: Prof Hans Reul, Dr Karen Mifsud </vt:lpstr>
      <vt:lpstr>Corticosteroid Signalling in the Hippocampus</vt:lpstr>
      <vt:lpstr>MR and GR bind distinct gene sets under stress (FS) vs circadian (BLPM) conditions, influenced by chromatin accessibility, particularly H3K9acS10p enrichment.</vt:lpstr>
      <vt:lpstr>Method </vt:lpstr>
      <vt:lpstr>Results Summary </vt:lpstr>
      <vt:lpstr>BLAM </vt:lpstr>
      <vt:lpstr>PowerPoint Presentation</vt:lpstr>
      <vt:lpstr>Conclusions &amp; Future Work </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Samia Niha</dc:creator>
  <cp:lastModifiedBy>Samia Niha</cp:lastModifiedBy>
  <cp:revision>14</cp:revision>
  <dcterms:created xsi:type="dcterms:W3CDTF">2025-07-17T20:13:53Z</dcterms:created>
  <dcterms:modified xsi:type="dcterms:W3CDTF">2025-07-23T10:42:47Z</dcterms:modified>
</cp:coreProperties>
</file>